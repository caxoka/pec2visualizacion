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DD7839-5D93-4C6D-99DC-9A43723C1A4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590FFF9-9D2F-4D17-A350-38975B8E71B8}">
      <dgm:prSet/>
      <dgm:spPr/>
      <dgm:t>
        <a:bodyPr/>
        <a:lstStyle/>
        <a:p>
          <a:r>
            <a:rPr lang="es-ES" dirty="0"/>
            <a:t>Mostrar cómo se compone un total en distintas partes.</a:t>
          </a:r>
          <a:endParaRPr lang="en-US" dirty="0"/>
        </a:p>
      </dgm:t>
    </dgm:pt>
    <dgm:pt modelId="{1987A5A5-E9E0-4DF2-A2FC-290E87471BD4}" type="parTrans" cxnId="{F2A75BD3-298B-4EED-8651-D7A0AFE15AA9}">
      <dgm:prSet/>
      <dgm:spPr/>
      <dgm:t>
        <a:bodyPr/>
        <a:lstStyle/>
        <a:p>
          <a:endParaRPr lang="en-US"/>
        </a:p>
      </dgm:t>
    </dgm:pt>
    <dgm:pt modelId="{EB19D5F9-1DF7-4CDC-895D-16248645BFE9}" type="sibTrans" cxnId="{F2A75BD3-298B-4EED-8651-D7A0AFE15AA9}">
      <dgm:prSet/>
      <dgm:spPr/>
      <dgm:t>
        <a:bodyPr/>
        <a:lstStyle/>
        <a:p>
          <a:endParaRPr lang="en-US"/>
        </a:p>
      </dgm:t>
    </dgm:pt>
    <dgm:pt modelId="{9E4A1323-4A42-419B-BFE2-1EB9463DA230}">
      <dgm:prSet/>
      <dgm:spPr/>
      <dgm:t>
        <a:bodyPr/>
        <a:lstStyle/>
        <a:p>
          <a:r>
            <a:rPr lang="es-ES" dirty="0"/>
            <a:t>Para analizar proporciones o totales de varias categorías.</a:t>
          </a:r>
          <a:endParaRPr lang="en-US" dirty="0"/>
        </a:p>
      </dgm:t>
    </dgm:pt>
    <dgm:pt modelId="{5E79E38C-9425-4E4F-90F2-9C0E78F180A1}" type="parTrans" cxnId="{D89897D7-BE88-4FCE-991B-3C7170D02766}">
      <dgm:prSet/>
      <dgm:spPr/>
      <dgm:t>
        <a:bodyPr/>
        <a:lstStyle/>
        <a:p>
          <a:endParaRPr lang="en-US"/>
        </a:p>
      </dgm:t>
    </dgm:pt>
    <dgm:pt modelId="{FF1AEAF3-108D-4B22-819F-B14B51AD746E}" type="sibTrans" cxnId="{D89897D7-BE88-4FCE-991B-3C7170D02766}">
      <dgm:prSet/>
      <dgm:spPr/>
      <dgm:t>
        <a:bodyPr/>
        <a:lstStyle/>
        <a:p>
          <a:endParaRPr lang="en-US"/>
        </a:p>
      </dgm:t>
    </dgm:pt>
    <dgm:pt modelId="{F5FBD38D-E8AE-4DB6-9F8F-647679445093}">
      <dgm:prSet/>
      <dgm:spPr/>
      <dgm:t>
        <a:bodyPr/>
        <a:lstStyle/>
        <a:p>
          <a:r>
            <a:rPr lang="es-ES" dirty="0"/>
            <a:t>Muy útil en informes, </a:t>
          </a:r>
          <a:r>
            <a:rPr lang="es-ES" dirty="0" err="1"/>
            <a:t>dashboards</a:t>
          </a:r>
          <a:r>
            <a:rPr lang="es-ES" dirty="0"/>
            <a:t> y presentaciones para visualizar composición y comparación</a:t>
          </a:r>
          <a:endParaRPr lang="en-US" dirty="0"/>
        </a:p>
      </dgm:t>
    </dgm:pt>
    <dgm:pt modelId="{6D26BC81-F599-4831-B425-C78691B1220F}" type="parTrans" cxnId="{A327F36D-9090-4E72-A7D6-CE9CBC901B4D}">
      <dgm:prSet/>
      <dgm:spPr/>
      <dgm:t>
        <a:bodyPr/>
        <a:lstStyle/>
        <a:p>
          <a:endParaRPr lang="es-ES"/>
        </a:p>
      </dgm:t>
    </dgm:pt>
    <dgm:pt modelId="{D9A42B66-280E-4BB6-88C0-C1291987D131}" type="sibTrans" cxnId="{A327F36D-9090-4E72-A7D6-CE9CBC901B4D}">
      <dgm:prSet/>
      <dgm:spPr/>
      <dgm:t>
        <a:bodyPr/>
        <a:lstStyle/>
        <a:p>
          <a:endParaRPr lang="es-ES"/>
        </a:p>
      </dgm:t>
    </dgm:pt>
    <dgm:pt modelId="{ACFD3A98-9B1C-4712-A978-8A46A7A0FBE4}">
      <dgm:prSet/>
      <dgm:spPr/>
      <dgm:t>
        <a:bodyPr/>
        <a:lstStyle/>
        <a:p>
          <a:r>
            <a:rPr lang="es-ES" dirty="0"/>
            <a:t>Para comparar la distribución de subcategorías entre grupos.</a:t>
          </a:r>
          <a:endParaRPr lang="en-US" dirty="0"/>
        </a:p>
      </dgm:t>
    </dgm:pt>
    <dgm:pt modelId="{68C3255F-1402-4F34-8EB2-BDAE04B01510}" type="parTrans" cxnId="{C979C245-DA8F-43CA-9D24-2D4BE2EDF193}">
      <dgm:prSet/>
      <dgm:spPr/>
      <dgm:t>
        <a:bodyPr/>
        <a:lstStyle/>
        <a:p>
          <a:endParaRPr lang="es-ES"/>
        </a:p>
      </dgm:t>
    </dgm:pt>
    <dgm:pt modelId="{6AE91095-C04D-4F93-8864-8D9EBBF96D50}" type="sibTrans" cxnId="{C979C245-DA8F-43CA-9D24-2D4BE2EDF193}">
      <dgm:prSet/>
      <dgm:spPr/>
      <dgm:t>
        <a:bodyPr/>
        <a:lstStyle/>
        <a:p>
          <a:endParaRPr lang="es-ES"/>
        </a:p>
      </dgm:t>
    </dgm:pt>
    <dgm:pt modelId="{98D124C5-B3AF-42E4-B130-DA033C521616}" type="pres">
      <dgm:prSet presAssocID="{B5DD7839-5D93-4C6D-99DC-9A43723C1A43}" presName="linear" presStyleCnt="0">
        <dgm:presLayoutVars>
          <dgm:animLvl val="lvl"/>
          <dgm:resizeHandles val="exact"/>
        </dgm:presLayoutVars>
      </dgm:prSet>
      <dgm:spPr/>
    </dgm:pt>
    <dgm:pt modelId="{750F3B31-EDD4-4774-A943-4316BBE096B5}" type="pres">
      <dgm:prSet presAssocID="{C590FFF9-9D2F-4D17-A350-38975B8E71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4F1FC89-DDC8-41EF-B3B9-C99CAA0D218C}" type="pres">
      <dgm:prSet presAssocID="{EB19D5F9-1DF7-4CDC-895D-16248645BFE9}" presName="spacer" presStyleCnt="0"/>
      <dgm:spPr/>
    </dgm:pt>
    <dgm:pt modelId="{EFF86D0E-E769-4A56-9AFC-E9E518988C5A}" type="pres">
      <dgm:prSet presAssocID="{ACFD3A98-9B1C-4712-A978-8A46A7A0FBE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32D76E1-D4B7-4D8A-8B21-CECE0CE07E58}" type="pres">
      <dgm:prSet presAssocID="{6AE91095-C04D-4F93-8864-8D9EBBF96D50}" presName="spacer" presStyleCnt="0"/>
      <dgm:spPr/>
    </dgm:pt>
    <dgm:pt modelId="{C3B37910-C2D2-4E16-813D-53BDFE60E602}" type="pres">
      <dgm:prSet presAssocID="{9E4A1323-4A42-419B-BFE2-1EB9463DA23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50FAA99-77BC-4AF5-8CD0-5361C841D12B}" type="pres">
      <dgm:prSet presAssocID="{FF1AEAF3-108D-4B22-819F-B14B51AD746E}" presName="spacer" presStyleCnt="0"/>
      <dgm:spPr/>
    </dgm:pt>
    <dgm:pt modelId="{F40595BC-BC6B-439B-804C-87F672C86689}" type="pres">
      <dgm:prSet presAssocID="{F5FBD38D-E8AE-4DB6-9F8F-6476794450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5588045-1EE2-47FB-B13B-A8FD0F89544E}" type="presOf" srcId="{B5DD7839-5D93-4C6D-99DC-9A43723C1A43}" destId="{98D124C5-B3AF-42E4-B130-DA033C521616}" srcOrd="0" destOrd="0" presId="urn:microsoft.com/office/officeart/2005/8/layout/vList2"/>
    <dgm:cxn modelId="{C979C245-DA8F-43CA-9D24-2D4BE2EDF193}" srcId="{B5DD7839-5D93-4C6D-99DC-9A43723C1A43}" destId="{ACFD3A98-9B1C-4712-A978-8A46A7A0FBE4}" srcOrd="1" destOrd="0" parTransId="{68C3255F-1402-4F34-8EB2-BDAE04B01510}" sibTransId="{6AE91095-C04D-4F93-8864-8D9EBBF96D50}"/>
    <dgm:cxn modelId="{A327F36D-9090-4E72-A7D6-CE9CBC901B4D}" srcId="{B5DD7839-5D93-4C6D-99DC-9A43723C1A43}" destId="{F5FBD38D-E8AE-4DB6-9F8F-647679445093}" srcOrd="3" destOrd="0" parTransId="{6D26BC81-F599-4831-B425-C78691B1220F}" sibTransId="{D9A42B66-280E-4BB6-88C0-C1291987D131}"/>
    <dgm:cxn modelId="{A11E7D71-97AD-4F70-A742-96A0E8CC916B}" type="presOf" srcId="{C590FFF9-9D2F-4D17-A350-38975B8E71B8}" destId="{750F3B31-EDD4-4774-A943-4316BBE096B5}" srcOrd="0" destOrd="0" presId="urn:microsoft.com/office/officeart/2005/8/layout/vList2"/>
    <dgm:cxn modelId="{19771383-B550-4B25-962A-D757EA0ECE1C}" type="presOf" srcId="{F5FBD38D-E8AE-4DB6-9F8F-647679445093}" destId="{F40595BC-BC6B-439B-804C-87F672C86689}" srcOrd="0" destOrd="0" presId="urn:microsoft.com/office/officeart/2005/8/layout/vList2"/>
    <dgm:cxn modelId="{4E77E1A2-CD79-41A7-B240-6205D0950DA2}" type="presOf" srcId="{9E4A1323-4A42-419B-BFE2-1EB9463DA230}" destId="{C3B37910-C2D2-4E16-813D-53BDFE60E602}" srcOrd="0" destOrd="0" presId="urn:microsoft.com/office/officeart/2005/8/layout/vList2"/>
    <dgm:cxn modelId="{F2A75BD3-298B-4EED-8651-D7A0AFE15AA9}" srcId="{B5DD7839-5D93-4C6D-99DC-9A43723C1A43}" destId="{C590FFF9-9D2F-4D17-A350-38975B8E71B8}" srcOrd="0" destOrd="0" parTransId="{1987A5A5-E9E0-4DF2-A2FC-290E87471BD4}" sibTransId="{EB19D5F9-1DF7-4CDC-895D-16248645BFE9}"/>
    <dgm:cxn modelId="{D89897D7-BE88-4FCE-991B-3C7170D02766}" srcId="{B5DD7839-5D93-4C6D-99DC-9A43723C1A43}" destId="{9E4A1323-4A42-419B-BFE2-1EB9463DA230}" srcOrd="2" destOrd="0" parTransId="{5E79E38C-9425-4E4F-90F2-9C0E78F180A1}" sibTransId="{FF1AEAF3-108D-4B22-819F-B14B51AD746E}"/>
    <dgm:cxn modelId="{692A88FA-1028-4498-9006-552F9E8742F9}" type="presOf" srcId="{ACFD3A98-9B1C-4712-A978-8A46A7A0FBE4}" destId="{EFF86D0E-E769-4A56-9AFC-E9E518988C5A}" srcOrd="0" destOrd="0" presId="urn:microsoft.com/office/officeart/2005/8/layout/vList2"/>
    <dgm:cxn modelId="{0ED076ED-A171-4618-A2B6-341F63DD7934}" type="presParOf" srcId="{98D124C5-B3AF-42E4-B130-DA033C521616}" destId="{750F3B31-EDD4-4774-A943-4316BBE096B5}" srcOrd="0" destOrd="0" presId="urn:microsoft.com/office/officeart/2005/8/layout/vList2"/>
    <dgm:cxn modelId="{6058F126-4931-4543-BCB1-8A8B2861E066}" type="presParOf" srcId="{98D124C5-B3AF-42E4-B130-DA033C521616}" destId="{64F1FC89-DDC8-41EF-B3B9-C99CAA0D218C}" srcOrd="1" destOrd="0" presId="urn:microsoft.com/office/officeart/2005/8/layout/vList2"/>
    <dgm:cxn modelId="{8F6818E7-BB63-4B99-B792-7586C3C2E91C}" type="presParOf" srcId="{98D124C5-B3AF-42E4-B130-DA033C521616}" destId="{EFF86D0E-E769-4A56-9AFC-E9E518988C5A}" srcOrd="2" destOrd="0" presId="urn:microsoft.com/office/officeart/2005/8/layout/vList2"/>
    <dgm:cxn modelId="{5F80F9C3-2627-4A7E-B8E1-B54184861D2D}" type="presParOf" srcId="{98D124C5-B3AF-42E4-B130-DA033C521616}" destId="{732D76E1-D4B7-4D8A-8B21-CECE0CE07E58}" srcOrd="3" destOrd="0" presId="urn:microsoft.com/office/officeart/2005/8/layout/vList2"/>
    <dgm:cxn modelId="{A44E057A-A180-433C-A963-0804825E0404}" type="presParOf" srcId="{98D124C5-B3AF-42E4-B130-DA033C521616}" destId="{C3B37910-C2D2-4E16-813D-53BDFE60E602}" srcOrd="4" destOrd="0" presId="urn:microsoft.com/office/officeart/2005/8/layout/vList2"/>
    <dgm:cxn modelId="{EC19DA68-536D-47AF-857E-B66DF7F4F0E2}" type="presParOf" srcId="{98D124C5-B3AF-42E4-B130-DA033C521616}" destId="{650FAA99-77BC-4AF5-8CD0-5361C841D12B}" srcOrd="5" destOrd="0" presId="urn:microsoft.com/office/officeart/2005/8/layout/vList2"/>
    <dgm:cxn modelId="{8EF63BDA-9F76-4F61-B79C-315F825C7EEA}" type="presParOf" srcId="{98D124C5-B3AF-42E4-B130-DA033C521616}" destId="{F40595BC-BC6B-439B-804C-87F672C8668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D208E2-DCC3-4ED7-8527-F483A195178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1D70F88-D40E-4D57-B3C0-2795170023F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Usa </a:t>
          </a:r>
          <a:r>
            <a:rPr lang="en-US" dirty="0" err="1"/>
            <a:t>pocos</a:t>
          </a:r>
          <a:r>
            <a:rPr lang="en-US" dirty="0"/>
            <a:t> </a:t>
          </a:r>
          <a:r>
            <a:rPr lang="en-US" dirty="0" err="1"/>
            <a:t>colores</a:t>
          </a:r>
          <a:r>
            <a:rPr lang="en-US" dirty="0"/>
            <a:t> y bien </a:t>
          </a:r>
          <a:r>
            <a:rPr lang="en-US" dirty="0" err="1"/>
            <a:t>contrastados</a:t>
          </a:r>
          <a:r>
            <a:rPr lang="en-US" dirty="0"/>
            <a:t>.</a:t>
          </a:r>
        </a:p>
      </dgm:t>
    </dgm:pt>
    <dgm:pt modelId="{C9C1D00E-A157-4F9A-9428-FD6DC4832209}" type="parTrans" cxnId="{C641297C-140B-4758-A6CF-1E52A8643458}">
      <dgm:prSet/>
      <dgm:spPr/>
      <dgm:t>
        <a:bodyPr/>
        <a:lstStyle/>
        <a:p>
          <a:endParaRPr lang="en-US"/>
        </a:p>
      </dgm:t>
    </dgm:pt>
    <dgm:pt modelId="{04B5D7A3-896F-48E5-A4BA-D1E51860A18B}" type="sibTrans" cxnId="{C641297C-140B-4758-A6CF-1E52A8643458}">
      <dgm:prSet/>
      <dgm:spPr/>
      <dgm:t>
        <a:bodyPr/>
        <a:lstStyle/>
        <a:p>
          <a:endParaRPr lang="en-US"/>
        </a:p>
      </dgm:t>
    </dgm:pt>
    <dgm:pt modelId="{9AB09FE9-8871-4011-8174-A508B470B32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 Ordena las barras de forma </a:t>
          </a:r>
          <a:r>
            <a:rPr lang="en-US" dirty="0" err="1"/>
            <a:t>lógica</a:t>
          </a:r>
          <a:r>
            <a:rPr lang="en-US" dirty="0"/>
            <a:t> (</a:t>
          </a:r>
          <a:r>
            <a:rPr lang="en-US" dirty="0" err="1"/>
            <a:t>por</a:t>
          </a:r>
          <a:r>
            <a:rPr lang="en-US" dirty="0"/>
            <a:t> total o </a:t>
          </a:r>
          <a:r>
            <a:rPr lang="en-US" dirty="0" err="1"/>
            <a:t>alfabéticamente</a:t>
          </a:r>
          <a:r>
            <a:rPr lang="en-US" dirty="0"/>
            <a:t>).</a:t>
          </a:r>
        </a:p>
      </dgm:t>
    </dgm:pt>
    <dgm:pt modelId="{78447A4B-5C85-4176-9B5C-EA38812A5CF8}" type="parTrans" cxnId="{0EAC2CB6-D108-40EF-97F4-0DC515053C2B}">
      <dgm:prSet/>
      <dgm:spPr/>
      <dgm:t>
        <a:bodyPr/>
        <a:lstStyle/>
        <a:p>
          <a:endParaRPr lang="en-US"/>
        </a:p>
      </dgm:t>
    </dgm:pt>
    <dgm:pt modelId="{BE7639BD-E349-489D-94A8-D38CE49BC13C}" type="sibTrans" cxnId="{0EAC2CB6-D108-40EF-97F4-0DC515053C2B}">
      <dgm:prSet/>
      <dgm:spPr/>
      <dgm:t>
        <a:bodyPr/>
        <a:lstStyle/>
        <a:p>
          <a:endParaRPr lang="en-US"/>
        </a:p>
      </dgm:t>
    </dgm:pt>
    <dgm:pt modelId="{95D5BFA2-8B1C-4740-B988-CCFCC535DB4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Mantén</a:t>
          </a:r>
          <a:r>
            <a:rPr lang="en-US" dirty="0"/>
            <a:t> </a:t>
          </a:r>
          <a:r>
            <a:rPr lang="en-US" dirty="0" err="1"/>
            <a:t>consistencia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colores</a:t>
          </a:r>
          <a:r>
            <a:rPr lang="en-US" dirty="0"/>
            <a:t> de </a:t>
          </a:r>
          <a:r>
            <a:rPr lang="en-US" dirty="0" err="1"/>
            <a:t>cada</a:t>
          </a:r>
          <a:r>
            <a:rPr lang="en-US" dirty="0"/>
            <a:t> </a:t>
          </a:r>
          <a:r>
            <a:rPr lang="en-US" dirty="0" err="1"/>
            <a:t>subcategoría</a:t>
          </a:r>
          <a:r>
            <a:rPr lang="en-US" dirty="0"/>
            <a:t>.</a:t>
          </a:r>
        </a:p>
      </dgm:t>
    </dgm:pt>
    <dgm:pt modelId="{AFED4426-7987-40F0-86CA-1BC65D42B9C8}" type="parTrans" cxnId="{CCEA9CF5-36A3-4392-8752-2EE5FA2086E2}">
      <dgm:prSet/>
      <dgm:spPr/>
      <dgm:t>
        <a:bodyPr/>
        <a:lstStyle/>
        <a:p>
          <a:endParaRPr lang="en-US"/>
        </a:p>
      </dgm:t>
    </dgm:pt>
    <dgm:pt modelId="{4A1A68DC-F087-4F19-AA95-E4731CEFE57C}" type="sibTrans" cxnId="{CCEA9CF5-36A3-4392-8752-2EE5FA2086E2}">
      <dgm:prSet/>
      <dgm:spPr/>
      <dgm:t>
        <a:bodyPr/>
        <a:lstStyle/>
        <a:p>
          <a:endParaRPr lang="en-US"/>
        </a:p>
      </dgm:t>
    </dgm:pt>
    <dgm:pt modelId="{B398CABB-4E51-4F43-8A7C-566CB02CB6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Añade</a:t>
          </a:r>
          <a:r>
            <a:rPr lang="en-US" dirty="0"/>
            <a:t> </a:t>
          </a:r>
          <a:r>
            <a:rPr lang="en-US" dirty="0" err="1"/>
            <a:t>etiquetas</a:t>
          </a:r>
          <a:r>
            <a:rPr lang="en-US" dirty="0"/>
            <a:t> o </a:t>
          </a:r>
          <a:r>
            <a:rPr lang="en-US" dirty="0" err="1"/>
            <a:t>totales</a:t>
          </a:r>
          <a:r>
            <a:rPr lang="en-US" dirty="0"/>
            <a:t> </a:t>
          </a:r>
          <a:r>
            <a:rPr lang="en-US" dirty="0" err="1"/>
            <a:t>cuando</a:t>
          </a:r>
          <a:r>
            <a:rPr lang="en-US" dirty="0"/>
            <a:t> sea </a:t>
          </a:r>
          <a:r>
            <a:rPr lang="en-US" dirty="0" err="1"/>
            <a:t>relevante</a:t>
          </a:r>
          <a:r>
            <a:rPr lang="en-US" dirty="0"/>
            <a:t>.</a:t>
          </a:r>
        </a:p>
      </dgm:t>
    </dgm:pt>
    <dgm:pt modelId="{3E1D9153-1A7A-4C3E-9003-F9FAD6483824}" type="parTrans" cxnId="{13425521-C03C-4327-986D-48D97A52052B}">
      <dgm:prSet/>
      <dgm:spPr/>
      <dgm:t>
        <a:bodyPr/>
        <a:lstStyle/>
        <a:p>
          <a:endParaRPr lang="en-US"/>
        </a:p>
      </dgm:t>
    </dgm:pt>
    <dgm:pt modelId="{60119EE1-DF93-41F1-94DF-969FB817619F}" type="sibTrans" cxnId="{13425521-C03C-4327-986D-48D97A52052B}">
      <dgm:prSet/>
      <dgm:spPr/>
      <dgm:t>
        <a:bodyPr/>
        <a:lstStyle/>
        <a:p>
          <a:endParaRPr lang="en-US"/>
        </a:p>
      </dgm:t>
    </dgm:pt>
    <dgm:pt modelId="{C5FF2DA9-245D-4FF9-83C9-3432B5E12A77}" type="pres">
      <dgm:prSet presAssocID="{1DD208E2-DCC3-4ED7-8527-F483A195178B}" presName="root" presStyleCnt="0">
        <dgm:presLayoutVars>
          <dgm:dir/>
          <dgm:resizeHandles val="exact"/>
        </dgm:presLayoutVars>
      </dgm:prSet>
      <dgm:spPr/>
    </dgm:pt>
    <dgm:pt modelId="{05E169FC-DB2B-4E3E-AAEA-CFDB769E4172}" type="pres">
      <dgm:prSet presAssocID="{01D70F88-D40E-4D57-B3C0-2795170023F1}" presName="compNode" presStyleCnt="0"/>
      <dgm:spPr/>
    </dgm:pt>
    <dgm:pt modelId="{807657F2-EFC1-44D8-AC88-347A498A1CF0}" type="pres">
      <dgm:prSet presAssocID="{01D70F88-D40E-4D57-B3C0-2795170023F1}" presName="iconBgRect" presStyleLbl="bgShp" presStyleIdx="0" presStyleCnt="4"/>
      <dgm:spPr/>
    </dgm:pt>
    <dgm:pt modelId="{CF63D2A0-1A61-4EBE-A81E-50F7D98E9DC7}" type="pres">
      <dgm:prSet presAssocID="{01D70F88-D40E-4D57-B3C0-2795170023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a"/>
        </a:ext>
      </dgm:extLst>
    </dgm:pt>
    <dgm:pt modelId="{DD540AF4-F5D4-40D6-A58E-30315794F96C}" type="pres">
      <dgm:prSet presAssocID="{01D70F88-D40E-4D57-B3C0-2795170023F1}" presName="spaceRect" presStyleCnt="0"/>
      <dgm:spPr/>
    </dgm:pt>
    <dgm:pt modelId="{85EEAE4F-594D-4B4E-9AE3-3ECBE7F48920}" type="pres">
      <dgm:prSet presAssocID="{01D70F88-D40E-4D57-B3C0-2795170023F1}" presName="textRect" presStyleLbl="revTx" presStyleIdx="0" presStyleCnt="4">
        <dgm:presLayoutVars>
          <dgm:chMax val="1"/>
          <dgm:chPref val="1"/>
        </dgm:presLayoutVars>
      </dgm:prSet>
      <dgm:spPr/>
    </dgm:pt>
    <dgm:pt modelId="{8C38E5CA-C2A4-4E6C-B5A2-930A149B1B7E}" type="pres">
      <dgm:prSet presAssocID="{04B5D7A3-896F-48E5-A4BA-D1E51860A18B}" presName="sibTrans" presStyleCnt="0"/>
      <dgm:spPr/>
    </dgm:pt>
    <dgm:pt modelId="{0D2F3A1F-F96F-41CA-9C74-2941FDF6043A}" type="pres">
      <dgm:prSet presAssocID="{9AB09FE9-8871-4011-8174-A508B470B328}" presName="compNode" presStyleCnt="0"/>
      <dgm:spPr/>
    </dgm:pt>
    <dgm:pt modelId="{9B29574F-9211-4BED-A964-B80F08388039}" type="pres">
      <dgm:prSet presAssocID="{9AB09FE9-8871-4011-8174-A508B470B328}" presName="iconBgRect" presStyleLbl="bgShp" presStyleIdx="1" presStyleCnt="4"/>
      <dgm:spPr/>
    </dgm:pt>
    <dgm:pt modelId="{B70AE346-B74C-464A-8CB3-B31E6C5741C0}" type="pres">
      <dgm:prSet presAssocID="{9AB09FE9-8871-4011-8174-A508B470B32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7979EE5A-CB29-4764-9A12-C8EDBB652A9E}" type="pres">
      <dgm:prSet presAssocID="{9AB09FE9-8871-4011-8174-A508B470B328}" presName="spaceRect" presStyleCnt="0"/>
      <dgm:spPr/>
    </dgm:pt>
    <dgm:pt modelId="{6E10BAA4-26A9-49E0-9B39-2B7A942C8822}" type="pres">
      <dgm:prSet presAssocID="{9AB09FE9-8871-4011-8174-A508B470B328}" presName="textRect" presStyleLbl="revTx" presStyleIdx="1" presStyleCnt="4">
        <dgm:presLayoutVars>
          <dgm:chMax val="1"/>
          <dgm:chPref val="1"/>
        </dgm:presLayoutVars>
      </dgm:prSet>
      <dgm:spPr/>
    </dgm:pt>
    <dgm:pt modelId="{43CC8A3A-3F44-48FF-8E41-A42A23FC971B}" type="pres">
      <dgm:prSet presAssocID="{BE7639BD-E349-489D-94A8-D38CE49BC13C}" presName="sibTrans" presStyleCnt="0"/>
      <dgm:spPr/>
    </dgm:pt>
    <dgm:pt modelId="{A1EDF185-BC28-4EA4-8721-6B2CAD73744F}" type="pres">
      <dgm:prSet presAssocID="{95D5BFA2-8B1C-4740-B988-CCFCC535DB4A}" presName="compNode" presStyleCnt="0"/>
      <dgm:spPr/>
    </dgm:pt>
    <dgm:pt modelId="{6760779C-0DB8-4CEA-9F9B-BF5BB7B59C3A}" type="pres">
      <dgm:prSet presAssocID="{95D5BFA2-8B1C-4740-B988-CCFCC535DB4A}" presName="iconBgRect" presStyleLbl="bgShp" presStyleIdx="2" presStyleCnt="4"/>
      <dgm:spPr/>
    </dgm:pt>
    <dgm:pt modelId="{BB418DE4-4713-4D24-AFDB-A09EE43467EA}" type="pres">
      <dgm:prSet presAssocID="{95D5BFA2-8B1C-4740-B988-CCFCC535DB4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tura"/>
        </a:ext>
      </dgm:extLst>
    </dgm:pt>
    <dgm:pt modelId="{F91CE880-FA3F-423A-802C-1C4F42928FB6}" type="pres">
      <dgm:prSet presAssocID="{95D5BFA2-8B1C-4740-B988-CCFCC535DB4A}" presName="spaceRect" presStyleCnt="0"/>
      <dgm:spPr/>
    </dgm:pt>
    <dgm:pt modelId="{98E70558-762D-497A-BEF1-D06044C35015}" type="pres">
      <dgm:prSet presAssocID="{95D5BFA2-8B1C-4740-B988-CCFCC535DB4A}" presName="textRect" presStyleLbl="revTx" presStyleIdx="2" presStyleCnt="4">
        <dgm:presLayoutVars>
          <dgm:chMax val="1"/>
          <dgm:chPref val="1"/>
        </dgm:presLayoutVars>
      </dgm:prSet>
      <dgm:spPr/>
    </dgm:pt>
    <dgm:pt modelId="{68A63AE9-290B-44C3-8DA5-AB992D660AD0}" type="pres">
      <dgm:prSet presAssocID="{4A1A68DC-F087-4F19-AA95-E4731CEFE57C}" presName="sibTrans" presStyleCnt="0"/>
      <dgm:spPr/>
    </dgm:pt>
    <dgm:pt modelId="{F0FDAF41-1188-4DDF-90D1-0BF35E053A8B}" type="pres">
      <dgm:prSet presAssocID="{B398CABB-4E51-4F43-8A7C-566CB02CB6C7}" presName="compNode" presStyleCnt="0"/>
      <dgm:spPr/>
    </dgm:pt>
    <dgm:pt modelId="{AB847F8A-1A48-4763-94D7-5FAA1DD30120}" type="pres">
      <dgm:prSet presAssocID="{B398CABB-4E51-4F43-8A7C-566CB02CB6C7}" presName="iconBgRect" presStyleLbl="bgShp" presStyleIdx="3" presStyleCnt="4"/>
      <dgm:spPr/>
    </dgm:pt>
    <dgm:pt modelId="{788C6DFA-2797-4CB0-BDFD-2FC33E6109F4}" type="pres">
      <dgm:prSet presAssocID="{B398CABB-4E51-4F43-8A7C-566CB02CB6C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4995AA87-5AFB-4526-AB0A-B0A63CADCB56}" type="pres">
      <dgm:prSet presAssocID="{B398CABB-4E51-4F43-8A7C-566CB02CB6C7}" presName="spaceRect" presStyleCnt="0"/>
      <dgm:spPr/>
    </dgm:pt>
    <dgm:pt modelId="{3E9CD62D-09BD-4086-8836-7A19062AF15F}" type="pres">
      <dgm:prSet presAssocID="{B398CABB-4E51-4F43-8A7C-566CB02CB6C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4C03113-04D2-43A7-A45D-A7DAE27E1108}" type="presOf" srcId="{1DD208E2-DCC3-4ED7-8527-F483A195178B}" destId="{C5FF2DA9-245D-4FF9-83C9-3432B5E12A77}" srcOrd="0" destOrd="0" presId="urn:microsoft.com/office/officeart/2018/5/layout/IconCircleLabelList"/>
    <dgm:cxn modelId="{6CC29E14-A262-469A-8B96-244201D66ACC}" type="presOf" srcId="{B398CABB-4E51-4F43-8A7C-566CB02CB6C7}" destId="{3E9CD62D-09BD-4086-8836-7A19062AF15F}" srcOrd="0" destOrd="0" presId="urn:microsoft.com/office/officeart/2018/5/layout/IconCircleLabelList"/>
    <dgm:cxn modelId="{13425521-C03C-4327-986D-48D97A52052B}" srcId="{1DD208E2-DCC3-4ED7-8527-F483A195178B}" destId="{B398CABB-4E51-4F43-8A7C-566CB02CB6C7}" srcOrd="3" destOrd="0" parTransId="{3E1D9153-1A7A-4C3E-9003-F9FAD6483824}" sibTransId="{60119EE1-DF93-41F1-94DF-969FB817619F}"/>
    <dgm:cxn modelId="{5A471435-6290-41B0-B0CC-39B08A410CCB}" type="presOf" srcId="{95D5BFA2-8B1C-4740-B988-CCFCC535DB4A}" destId="{98E70558-762D-497A-BEF1-D06044C35015}" srcOrd="0" destOrd="0" presId="urn:microsoft.com/office/officeart/2018/5/layout/IconCircleLabelList"/>
    <dgm:cxn modelId="{C641297C-140B-4758-A6CF-1E52A8643458}" srcId="{1DD208E2-DCC3-4ED7-8527-F483A195178B}" destId="{01D70F88-D40E-4D57-B3C0-2795170023F1}" srcOrd="0" destOrd="0" parTransId="{C9C1D00E-A157-4F9A-9428-FD6DC4832209}" sibTransId="{04B5D7A3-896F-48E5-A4BA-D1E51860A18B}"/>
    <dgm:cxn modelId="{0EAC2CB6-D108-40EF-97F4-0DC515053C2B}" srcId="{1DD208E2-DCC3-4ED7-8527-F483A195178B}" destId="{9AB09FE9-8871-4011-8174-A508B470B328}" srcOrd="1" destOrd="0" parTransId="{78447A4B-5C85-4176-9B5C-EA38812A5CF8}" sibTransId="{BE7639BD-E349-489D-94A8-D38CE49BC13C}"/>
    <dgm:cxn modelId="{F6A47CCF-E16B-4B8C-BD97-DD8B66A1E90D}" type="presOf" srcId="{9AB09FE9-8871-4011-8174-A508B470B328}" destId="{6E10BAA4-26A9-49E0-9B39-2B7A942C8822}" srcOrd="0" destOrd="0" presId="urn:microsoft.com/office/officeart/2018/5/layout/IconCircleLabelList"/>
    <dgm:cxn modelId="{32746EDD-2DC5-4DFC-9125-A7B0874D69B8}" type="presOf" srcId="{01D70F88-D40E-4D57-B3C0-2795170023F1}" destId="{85EEAE4F-594D-4B4E-9AE3-3ECBE7F48920}" srcOrd="0" destOrd="0" presId="urn:microsoft.com/office/officeart/2018/5/layout/IconCircleLabelList"/>
    <dgm:cxn modelId="{CCEA9CF5-36A3-4392-8752-2EE5FA2086E2}" srcId="{1DD208E2-DCC3-4ED7-8527-F483A195178B}" destId="{95D5BFA2-8B1C-4740-B988-CCFCC535DB4A}" srcOrd="2" destOrd="0" parTransId="{AFED4426-7987-40F0-86CA-1BC65D42B9C8}" sibTransId="{4A1A68DC-F087-4F19-AA95-E4731CEFE57C}"/>
    <dgm:cxn modelId="{93FF369A-442A-4E6D-B839-2249BB915F09}" type="presParOf" srcId="{C5FF2DA9-245D-4FF9-83C9-3432B5E12A77}" destId="{05E169FC-DB2B-4E3E-AAEA-CFDB769E4172}" srcOrd="0" destOrd="0" presId="urn:microsoft.com/office/officeart/2018/5/layout/IconCircleLabelList"/>
    <dgm:cxn modelId="{F28A0890-AD15-441A-87C5-1D713DDD8601}" type="presParOf" srcId="{05E169FC-DB2B-4E3E-AAEA-CFDB769E4172}" destId="{807657F2-EFC1-44D8-AC88-347A498A1CF0}" srcOrd="0" destOrd="0" presId="urn:microsoft.com/office/officeart/2018/5/layout/IconCircleLabelList"/>
    <dgm:cxn modelId="{AD949037-9DD0-4416-A789-9CE10A3B0EFF}" type="presParOf" srcId="{05E169FC-DB2B-4E3E-AAEA-CFDB769E4172}" destId="{CF63D2A0-1A61-4EBE-A81E-50F7D98E9DC7}" srcOrd="1" destOrd="0" presId="urn:microsoft.com/office/officeart/2018/5/layout/IconCircleLabelList"/>
    <dgm:cxn modelId="{387682B3-9AFA-484F-BEE9-F6DDDF92C44A}" type="presParOf" srcId="{05E169FC-DB2B-4E3E-AAEA-CFDB769E4172}" destId="{DD540AF4-F5D4-40D6-A58E-30315794F96C}" srcOrd="2" destOrd="0" presId="urn:microsoft.com/office/officeart/2018/5/layout/IconCircleLabelList"/>
    <dgm:cxn modelId="{A4CBEFF5-91E8-4CA5-9D92-A273D620021D}" type="presParOf" srcId="{05E169FC-DB2B-4E3E-AAEA-CFDB769E4172}" destId="{85EEAE4F-594D-4B4E-9AE3-3ECBE7F48920}" srcOrd="3" destOrd="0" presId="urn:microsoft.com/office/officeart/2018/5/layout/IconCircleLabelList"/>
    <dgm:cxn modelId="{5446205B-BA94-465F-B389-37745EA232D9}" type="presParOf" srcId="{C5FF2DA9-245D-4FF9-83C9-3432B5E12A77}" destId="{8C38E5CA-C2A4-4E6C-B5A2-930A149B1B7E}" srcOrd="1" destOrd="0" presId="urn:microsoft.com/office/officeart/2018/5/layout/IconCircleLabelList"/>
    <dgm:cxn modelId="{F717AD20-0F11-488C-A244-220E1C8799FA}" type="presParOf" srcId="{C5FF2DA9-245D-4FF9-83C9-3432B5E12A77}" destId="{0D2F3A1F-F96F-41CA-9C74-2941FDF6043A}" srcOrd="2" destOrd="0" presId="urn:microsoft.com/office/officeart/2018/5/layout/IconCircleLabelList"/>
    <dgm:cxn modelId="{FDD2E6EF-DD4B-4A34-AE4E-287E50DCD0AE}" type="presParOf" srcId="{0D2F3A1F-F96F-41CA-9C74-2941FDF6043A}" destId="{9B29574F-9211-4BED-A964-B80F08388039}" srcOrd="0" destOrd="0" presId="urn:microsoft.com/office/officeart/2018/5/layout/IconCircleLabelList"/>
    <dgm:cxn modelId="{A103CAEA-09CF-4532-B3C4-7565D51DC2BD}" type="presParOf" srcId="{0D2F3A1F-F96F-41CA-9C74-2941FDF6043A}" destId="{B70AE346-B74C-464A-8CB3-B31E6C5741C0}" srcOrd="1" destOrd="0" presId="urn:microsoft.com/office/officeart/2018/5/layout/IconCircleLabelList"/>
    <dgm:cxn modelId="{F511835F-FB3E-4ED2-A3C3-1E0F7B755047}" type="presParOf" srcId="{0D2F3A1F-F96F-41CA-9C74-2941FDF6043A}" destId="{7979EE5A-CB29-4764-9A12-C8EDBB652A9E}" srcOrd="2" destOrd="0" presId="urn:microsoft.com/office/officeart/2018/5/layout/IconCircleLabelList"/>
    <dgm:cxn modelId="{9B275A3B-244D-47D0-B4CE-12E015927C9A}" type="presParOf" srcId="{0D2F3A1F-F96F-41CA-9C74-2941FDF6043A}" destId="{6E10BAA4-26A9-49E0-9B39-2B7A942C8822}" srcOrd="3" destOrd="0" presId="urn:microsoft.com/office/officeart/2018/5/layout/IconCircleLabelList"/>
    <dgm:cxn modelId="{87B0B414-DA4C-42B2-9071-F979DFE2E060}" type="presParOf" srcId="{C5FF2DA9-245D-4FF9-83C9-3432B5E12A77}" destId="{43CC8A3A-3F44-48FF-8E41-A42A23FC971B}" srcOrd="3" destOrd="0" presId="urn:microsoft.com/office/officeart/2018/5/layout/IconCircleLabelList"/>
    <dgm:cxn modelId="{7472BB85-EB32-4282-94F6-BBB9D85415AE}" type="presParOf" srcId="{C5FF2DA9-245D-4FF9-83C9-3432B5E12A77}" destId="{A1EDF185-BC28-4EA4-8721-6B2CAD73744F}" srcOrd="4" destOrd="0" presId="urn:microsoft.com/office/officeart/2018/5/layout/IconCircleLabelList"/>
    <dgm:cxn modelId="{C3ACFF47-75BF-460F-B48C-BD3143AA57F1}" type="presParOf" srcId="{A1EDF185-BC28-4EA4-8721-6B2CAD73744F}" destId="{6760779C-0DB8-4CEA-9F9B-BF5BB7B59C3A}" srcOrd="0" destOrd="0" presId="urn:microsoft.com/office/officeart/2018/5/layout/IconCircleLabelList"/>
    <dgm:cxn modelId="{E9FCC950-F95C-4975-B963-8F9FD3E12913}" type="presParOf" srcId="{A1EDF185-BC28-4EA4-8721-6B2CAD73744F}" destId="{BB418DE4-4713-4D24-AFDB-A09EE43467EA}" srcOrd="1" destOrd="0" presId="urn:microsoft.com/office/officeart/2018/5/layout/IconCircleLabelList"/>
    <dgm:cxn modelId="{EEB2B531-173F-419A-A411-4955DC2C50EA}" type="presParOf" srcId="{A1EDF185-BC28-4EA4-8721-6B2CAD73744F}" destId="{F91CE880-FA3F-423A-802C-1C4F42928FB6}" srcOrd="2" destOrd="0" presId="urn:microsoft.com/office/officeart/2018/5/layout/IconCircleLabelList"/>
    <dgm:cxn modelId="{B7033D0D-B5C7-4F18-9535-D87A7773578E}" type="presParOf" srcId="{A1EDF185-BC28-4EA4-8721-6B2CAD73744F}" destId="{98E70558-762D-497A-BEF1-D06044C35015}" srcOrd="3" destOrd="0" presId="urn:microsoft.com/office/officeart/2018/5/layout/IconCircleLabelList"/>
    <dgm:cxn modelId="{1F75699E-5148-4A1C-91AB-9EE4C9B41A7F}" type="presParOf" srcId="{C5FF2DA9-245D-4FF9-83C9-3432B5E12A77}" destId="{68A63AE9-290B-44C3-8DA5-AB992D660AD0}" srcOrd="5" destOrd="0" presId="urn:microsoft.com/office/officeart/2018/5/layout/IconCircleLabelList"/>
    <dgm:cxn modelId="{B32958F4-FB81-4501-9E9C-FDB16B60DAA7}" type="presParOf" srcId="{C5FF2DA9-245D-4FF9-83C9-3432B5E12A77}" destId="{F0FDAF41-1188-4DDF-90D1-0BF35E053A8B}" srcOrd="6" destOrd="0" presId="urn:microsoft.com/office/officeart/2018/5/layout/IconCircleLabelList"/>
    <dgm:cxn modelId="{89B2D459-6CC2-417A-AFE3-16E6A85EF483}" type="presParOf" srcId="{F0FDAF41-1188-4DDF-90D1-0BF35E053A8B}" destId="{AB847F8A-1A48-4763-94D7-5FAA1DD30120}" srcOrd="0" destOrd="0" presId="urn:microsoft.com/office/officeart/2018/5/layout/IconCircleLabelList"/>
    <dgm:cxn modelId="{37FDEE1E-3499-4F3C-A553-4B8670A035D3}" type="presParOf" srcId="{F0FDAF41-1188-4DDF-90D1-0BF35E053A8B}" destId="{788C6DFA-2797-4CB0-BDFD-2FC33E6109F4}" srcOrd="1" destOrd="0" presId="urn:microsoft.com/office/officeart/2018/5/layout/IconCircleLabelList"/>
    <dgm:cxn modelId="{CEA323AD-782F-4AF5-B523-DEA5603F3E09}" type="presParOf" srcId="{F0FDAF41-1188-4DDF-90D1-0BF35E053A8B}" destId="{4995AA87-5AFB-4526-AB0A-B0A63CADCB56}" srcOrd="2" destOrd="0" presId="urn:microsoft.com/office/officeart/2018/5/layout/IconCircleLabelList"/>
    <dgm:cxn modelId="{B2C1C026-8525-40FE-95B4-171BC3F0354A}" type="presParOf" srcId="{F0FDAF41-1188-4DDF-90D1-0BF35E053A8B}" destId="{3E9CD62D-09BD-4086-8836-7A19062AF15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0F3B31-EDD4-4774-A943-4316BBE096B5}">
      <dsp:nvSpPr>
        <dsp:cNvPr id="0" name=""/>
        <dsp:cNvSpPr/>
      </dsp:nvSpPr>
      <dsp:spPr>
        <a:xfrm>
          <a:off x="0" y="58845"/>
          <a:ext cx="4971603" cy="116795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Mostrar cómo se compone un total en distintas partes.</a:t>
          </a:r>
          <a:endParaRPr lang="en-US" sz="2200" kern="1200" dirty="0"/>
        </a:p>
      </dsp:txBody>
      <dsp:txXfrm>
        <a:off x="57015" y="115860"/>
        <a:ext cx="4857573" cy="1053922"/>
      </dsp:txXfrm>
    </dsp:sp>
    <dsp:sp modelId="{EFF86D0E-E769-4A56-9AFC-E9E518988C5A}">
      <dsp:nvSpPr>
        <dsp:cNvPr id="0" name=""/>
        <dsp:cNvSpPr/>
      </dsp:nvSpPr>
      <dsp:spPr>
        <a:xfrm>
          <a:off x="0" y="1290157"/>
          <a:ext cx="4971603" cy="1167952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Para comparar la distribución de subcategorías entre grupos.</a:t>
          </a:r>
          <a:endParaRPr lang="en-US" sz="2200" kern="1200" dirty="0"/>
        </a:p>
      </dsp:txBody>
      <dsp:txXfrm>
        <a:off x="57015" y="1347172"/>
        <a:ext cx="4857573" cy="1053922"/>
      </dsp:txXfrm>
    </dsp:sp>
    <dsp:sp modelId="{C3B37910-C2D2-4E16-813D-53BDFE60E602}">
      <dsp:nvSpPr>
        <dsp:cNvPr id="0" name=""/>
        <dsp:cNvSpPr/>
      </dsp:nvSpPr>
      <dsp:spPr>
        <a:xfrm>
          <a:off x="0" y="2521470"/>
          <a:ext cx="4971603" cy="1167952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Para analizar proporciones o totales de varias categorías.</a:t>
          </a:r>
          <a:endParaRPr lang="en-US" sz="2200" kern="1200" dirty="0"/>
        </a:p>
      </dsp:txBody>
      <dsp:txXfrm>
        <a:off x="57015" y="2578485"/>
        <a:ext cx="4857573" cy="1053922"/>
      </dsp:txXfrm>
    </dsp:sp>
    <dsp:sp modelId="{F40595BC-BC6B-439B-804C-87F672C86689}">
      <dsp:nvSpPr>
        <dsp:cNvPr id="0" name=""/>
        <dsp:cNvSpPr/>
      </dsp:nvSpPr>
      <dsp:spPr>
        <a:xfrm>
          <a:off x="0" y="3752783"/>
          <a:ext cx="4971603" cy="1167952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/>
            <a:t>Muy útil en informes, </a:t>
          </a:r>
          <a:r>
            <a:rPr lang="es-ES" sz="2200" kern="1200" dirty="0" err="1"/>
            <a:t>dashboards</a:t>
          </a:r>
          <a:r>
            <a:rPr lang="es-ES" sz="2200" kern="1200" dirty="0"/>
            <a:t> y presentaciones para visualizar composición y comparación</a:t>
          </a:r>
          <a:endParaRPr lang="en-US" sz="2200" kern="1200" dirty="0"/>
        </a:p>
      </dsp:txBody>
      <dsp:txXfrm>
        <a:off x="57015" y="3809798"/>
        <a:ext cx="4857573" cy="10539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7657F2-EFC1-44D8-AC88-347A498A1CF0}">
      <dsp:nvSpPr>
        <dsp:cNvPr id="0" name=""/>
        <dsp:cNvSpPr/>
      </dsp:nvSpPr>
      <dsp:spPr>
        <a:xfrm>
          <a:off x="1056515" y="576"/>
          <a:ext cx="893197" cy="89319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3D2A0-1A61-4EBE-A81E-50F7D98E9DC7}">
      <dsp:nvSpPr>
        <dsp:cNvPr id="0" name=""/>
        <dsp:cNvSpPr/>
      </dsp:nvSpPr>
      <dsp:spPr>
        <a:xfrm>
          <a:off x="1246868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EEAE4F-594D-4B4E-9AE3-3ECBE7F48920}">
      <dsp:nvSpPr>
        <dsp:cNvPr id="0" name=""/>
        <dsp:cNvSpPr/>
      </dsp:nvSpPr>
      <dsp:spPr>
        <a:xfrm>
          <a:off x="770985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Usa </a:t>
          </a:r>
          <a:r>
            <a:rPr lang="en-US" sz="1100" kern="1200" dirty="0" err="1"/>
            <a:t>pocos</a:t>
          </a:r>
          <a:r>
            <a:rPr lang="en-US" sz="1100" kern="1200" dirty="0"/>
            <a:t> </a:t>
          </a:r>
          <a:r>
            <a:rPr lang="en-US" sz="1100" kern="1200" dirty="0" err="1"/>
            <a:t>colores</a:t>
          </a:r>
          <a:r>
            <a:rPr lang="en-US" sz="1100" kern="1200" dirty="0"/>
            <a:t> y bien </a:t>
          </a:r>
          <a:r>
            <a:rPr lang="en-US" sz="1100" kern="1200" dirty="0" err="1"/>
            <a:t>contrastados</a:t>
          </a:r>
          <a:r>
            <a:rPr lang="en-US" sz="1100" kern="1200" dirty="0"/>
            <a:t>.</a:t>
          </a:r>
        </a:p>
      </dsp:txBody>
      <dsp:txXfrm>
        <a:off x="770985" y="1171983"/>
        <a:ext cx="1464257" cy="585703"/>
      </dsp:txXfrm>
    </dsp:sp>
    <dsp:sp modelId="{9B29574F-9211-4BED-A964-B80F08388039}">
      <dsp:nvSpPr>
        <dsp:cNvPr id="0" name=""/>
        <dsp:cNvSpPr/>
      </dsp:nvSpPr>
      <dsp:spPr>
        <a:xfrm>
          <a:off x="2777018" y="576"/>
          <a:ext cx="893197" cy="89319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AE346-B74C-464A-8CB3-B31E6C5741C0}">
      <dsp:nvSpPr>
        <dsp:cNvPr id="0" name=""/>
        <dsp:cNvSpPr/>
      </dsp:nvSpPr>
      <dsp:spPr>
        <a:xfrm>
          <a:off x="2967371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0BAA4-26A9-49E0-9B39-2B7A942C8822}">
      <dsp:nvSpPr>
        <dsp:cNvPr id="0" name=""/>
        <dsp:cNvSpPr/>
      </dsp:nvSpPr>
      <dsp:spPr>
        <a:xfrm>
          <a:off x="2491488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 Ordena las barras de forma </a:t>
          </a:r>
          <a:r>
            <a:rPr lang="en-US" sz="1100" kern="1200" dirty="0" err="1"/>
            <a:t>lógica</a:t>
          </a:r>
          <a:r>
            <a:rPr lang="en-US" sz="1100" kern="1200" dirty="0"/>
            <a:t> (</a:t>
          </a:r>
          <a:r>
            <a:rPr lang="en-US" sz="1100" kern="1200" dirty="0" err="1"/>
            <a:t>por</a:t>
          </a:r>
          <a:r>
            <a:rPr lang="en-US" sz="1100" kern="1200" dirty="0"/>
            <a:t> total o </a:t>
          </a:r>
          <a:r>
            <a:rPr lang="en-US" sz="1100" kern="1200" dirty="0" err="1"/>
            <a:t>alfabéticamente</a:t>
          </a:r>
          <a:r>
            <a:rPr lang="en-US" sz="1100" kern="1200" dirty="0"/>
            <a:t>).</a:t>
          </a:r>
        </a:p>
      </dsp:txBody>
      <dsp:txXfrm>
        <a:off x="2491488" y="1171983"/>
        <a:ext cx="1464257" cy="585703"/>
      </dsp:txXfrm>
    </dsp:sp>
    <dsp:sp modelId="{6760779C-0DB8-4CEA-9F9B-BF5BB7B59C3A}">
      <dsp:nvSpPr>
        <dsp:cNvPr id="0" name=""/>
        <dsp:cNvSpPr/>
      </dsp:nvSpPr>
      <dsp:spPr>
        <a:xfrm>
          <a:off x="4497521" y="576"/>
          <a:ext cx="893197" cy="89319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418DE4-4713-4D24-AFDB-A09EE43467EA}">
      <dsp:nvSpPr>
        <dsp:cNvPr id="0" name=""/>
        <dsp:cNvSpPr/>
      </dsp:nvSpPr>
      <dsp:spPr>
        <a:xfrm>
          <a:off x="4687874" y="190930"/>
          <a:ext cx="512490" cy="5124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E70558-762D-497A-BEF1-D06044C35015}">
      <dsp:nvSpPr>
        <dsp:cNvPr id="0" name=""/>
        <dsp:cNvSpPr/>
      </dsp:nvSpPr>
      <dsp:spPr>
        <a:xfrm>
          <a:off x="4211991" y="1171983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Mantén</a:t>
          </a:r>
          <a:r>
            <a:rPr lang="en-US" sz="1100" kern="1200" dirty="0"/>
            <a:t> </a:t>
          </a:r>
          <a:r>
            <a:rPr lang="en-US" sz="1100" kern="1200" dirty="0" err="1"/>
            <a:t>consistencia</a:t>
          </a:r>
          <a:r>
            <a:rPr lang="en-US" sz="1100" kern="1200" dirty="0"/>
            <a:t> </a:t>
          </a:r>
          <a:r>
            <a:rPr lang="en-US" sz="1100" kern="1200" dirty="0" err="1"/>
            <a:t>en</a:t>
          </a:r>
          <a:r>
            <a:rPr lang="en-US" sz="1100" kern="1200" dirty="0"/>
            <a:t> </a:t>
          </a:r>
          <a:r>
            <a:rPr lang="en-US" sz="1100" kern="1200" dirty="0" err="1"/>
            <a:t>los</a:t>
          </a:r>
          <a:r>
            <a:rPr lang="en-US" sz="1100" kern="1200" dirty="0"/>
            <a:t> </a:t>
          </a:r>
          <a:r>
            <a:rPr lang="en-US" sz="1100" kern="1200" dirty="0" err="1"/>
            <a:t>colores</a:t>
          </a:r>
          <a:r>
            <a:rPr lang="en-US" sz="1100" kern="1200" dirty="0"/>
            <a:t> de </a:t>
          </a:r>
          <a:r>
            <a:rPr lang="en-US" sz="1100" kern="1200" dirty="0" err="1"/>
            <a:t>cada</a:t>
          </a:r>
          <a:r>
            <a:rPr lang="en-US" sz="1100" kern="1200" dirty="0"/>
            <a:t> </a:t>
          </a:r>
          <a:r>
            <a:rPr lang="en-US" sz="1100" kern="1200" dirty="0" err="1"/>
            <a:t>subcategoría</a:t>
          </a:r>
          <a:r>
            <a:rPr lang="en-US" sz="1100" kern="1200" dirty="0"/>
            <a:t>.</a:t>
          </a:r>
        </a:p>
      </dsp:txBody>
      <dsp:txXfrm>
        <a:off x="4211991" y="1171983"/>
        <a:ext cx="1464257" cy="585703"/>
      </dsp:txXfrm>
    </dsp:sp>
    <dsp:sp modelId="{AB847F8A-1A48-4763-94D7-5FAA1DD30120}">
      <dsp:nvSpPr>
        <dsp:cNvPr id="0" name=""/>
        <dsp:cNvSpPr/>
      </dsp:nvSpPr>
      <dsp:spPr>
        <a:xfrm>
          <a:off x="2777018" y="2123750"/>
          <a:ext cx="893197" cy="89319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8C6DFA-2797-4CB0-BDFD-2FC33E6109F4}">
      <dsp:nvSpPr>
        <dsp:cNvPr id="0" name=""/>
        <dsp:cNvSpPr/>
      </dsp:nvSpPr>
      <dsp:spPr>
        <a:xfrm>
          <a:off x="2967371" y="2314104"/>
          <a:ext cx="512490" cy="5124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CD62D-09BD-4086-8836-7A19062AF15F}">
      <dsp:nvSpPr>
        <dsp:cNvPr id="0" name=""/>
        <dsp:cNvSpPr/>
      </dsp:nvSpPr>
      <dsp:spPr>
        <a:xfrm>
          <a:off x="2491488" y="3295156"/>
          <a:ext cx="1464257" cy="585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Añade</a:t>
          </a:r>
          <a:r>
            <a:rPr lang="en-US" sz="1100" kern="1200" dirty="0"/>
            <a:t> </a:t>
          </a:r>
          <a:r>
            <a:rPr lang="en-US" sz="1100" kern="1200" dirty="0" err="1"/>
            <a:t>etiquetas</a:t>
          </a:r>
          <a:r>
            <a:rPr lang="en-US" sz="1100" kern="1200" dirty="0"/>
            <a:t> o </a:t>
          </a:r>
          <a:r>
            <a:rPr lang="en-US" sz="1100" kern="1200" dirty="0" err="1"/>
            <a:t>totales</a:t>
          </a:r>
          <a:r>
            <a:rPr lang="en-US" sz="1100" kern="1200" dirty="0"/>
            <a:t> </a:t>
          </a:r>
          <a:r>
            <a:rPr lang="en-US" sz="1100" kern="1200" dirty="0" err="1"/>
            <a:t>cuando</a:t>
          </a:r>
          <a:r>
            <a:rPr lang="en-US" sz="1100" kern="1200" dirty="0"/>
            <a:t> sea </a:t>
          </a:r>
          <a:r>
            <a:rPr lang="en-US" sz="1100" kern="1200" dirty="0" err="1"/>
            <a:t>relevante</a:t>
          </a:r>
          <a:r>
            <a:rPr lang="en-US" sz="1100" kern="1200" dirty="0"/>
            <a:t>.</a:t>
          </a:r>
        </a:p>
      </dsp:txBody>
      <dsp:txXfrm>
        <a:off x="2491488" y="3295156"/>
        <a:ext cx="1464257" cy="585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6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73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85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81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6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5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9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21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8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6564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51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2304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63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43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9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22C15FA6-C6B6-1FC6-EE8A-AF9907D64FA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6667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F5F0CD5C-72F3-4090-8A69-8E15CB432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17496A2-9394-4FB7-BA0E-717D2D2E7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0350" y="0"/>
            <a:ext cx="5486400" cy="6858000"/>
          </a:xfrm>
          <a:prstGeom prst="parallelogram">
            <a:avLst>
              <a:gd name="adj" fmla="val 15925"/>
            </a:avLst>
          </a:prstGeom>
          <a:solidFill>
            <a:schemeClr val="bg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2CF681-4765-4E88-802F-B2474DCD5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D57B2BA-243C-45C7-A5D8-46CA71943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67374FB5-CBB7-46FF-95B5-2251BC685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34BCEAB7-D9E0-40A4-9254-8593BD34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567A354-BB63-405C-8E5F-2F510E67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3587" y="1678665"/>
            <a:ext cx="3361915" cy="2369131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t-BR" sz="3400" b="1" dirty="0"/>
              <a:t>Gráficos de Barras </a:t>
            </a:r>
            <a:r>
              <a:rPr lang="pt-BR" sz="3400" b="1" dirty="0" err="1"/>
              <a:t>Apiladas</a:t>
            </a:r>
            <a:r>
              <a:rPr lang="pt-BR" sz="3400" b="1" dirty="0"/>
              <a:t> (</a:t>
            </a:r>
            <a:r>
              <a:rPr lang="pt-BR" sz="3400" b="1" dirty="0" err="1"/>
              <a:t>Stacked</a:t>
            </a:r>
            <a:r>
              <a:rPr lang="pt-BR" sz="3400" b="1" dirty="0"/>
              <a:t> Bar </a:t>
            </a:r>
            <a:r>
              <a:rPr lang="pt-BR" sz="3400" b="1" dirty="0" err="1"/>
              <a:t>Graphs</a:t>
            </a:r>
            <a:r>
              <a:rPr lang="pt-BR" sz="3400" b="1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1207" y="4404550"/>
            <a:ext cx="3364293" cy="1096899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s-ES" dirty="0"/>
              <a:t>ALBERTO CACHO PICÓN</a:t>
            </a:r>
          </a:p>
          <a:p>
            <a:pPr algn="ctr">
              <a:lnSpc>
                <a:spcPct val="90000"/>
              </a:lnSpc>
            </a:pPr>
            <a:r>
              <a:rPr lang="es-ES" dirty="0"/>
              <a:t>VISUALIZACIÓN DE DATOS</a:t>
            </a:r>
          </a:p>
          <a:p>
            <a:pPr algn="ctr">
              <a:lnSpc>
                <a:spcPct val="90000"/>
              </a:lnSpc>
            </a:pPr>
            <a:r>
              <a:rPr lang="es-ES" dirty="0"/>
              <a:t>PEC2</a:t>
            </a: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9185A8D7-2F20-4F7A-97BE-21DB1654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CB65BD56-22B3-4E13-BFCA-B8E8BEB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6790ED68-BCA0-4247-A72F-1CB85DF0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DD0F2B3F-DC55-4FA7-B667-1ACD07920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FCFB0-9B7B-791C-2B4B-B65A67683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493B-B21A-1413-972B-F4B18C24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800" dirty="0"/>
              <a:t>DATASET Y TECNOLOGÍA UTILIZADA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DFD0B-4F5C-8C20-704F-4761C18E0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DATASET TITANIC: https://www.kaggle.com/datasets/yasserh/titanic-dataset?resource=download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PYTHON+ LIBRERÍA PANDAS+MATPLOTLIB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REPOSITORIO GITHUB PÚBLICO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640B2-F2E8-8CCE-2F36-C302D2A57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41" r="4997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546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559" y="609600"/>
            <a:ext cx="2796807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800" dirty="0"/>
              <a:t>¿Qué es un gráfico de barras apiladas?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875" y="2160589"/>
            <a:ext cx="2790687" cy="356073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Es una variación del gráfico de barras que muestra cómo se divide un total en varias partes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Cada barra representa una categoría principal.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Los segmentos dentro de la barra representan las subcategorías o componentes del total.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La barra puede mostrar valores totales o porcentajes (100 %).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400" dirty="0"/>
              <a:t>Puede ser vertical u horizontal.</a:t>
            </a:r>
          </a:p>
        </p:txBody>
      </p:sp>
      <p:pic>
        <p:nvPicPr>
          <p:cNvPr id="1026" name="Picture 2" descr="Gráfico de barras apiladas en R | R CHARTS">
            <a:extLst>
              <a:ext uri="{FF2B5EF4-FFF2-40B4-BE49-F238E27FC236}">
                <a16:creationId xmlns:a16="http://schemas.microsoft.com/office/drawing/2014/main" id="{C3B923E5-48AB-2B2D-ACA1-F41F659D2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0526" y="1450704"/>
            <a:ext cx="3452060" cy="345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s-ES" sz="3800" dirty="0"/>
              <a:t>¿Para qué se utiliza?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11A69B-173F-50FF-436D-7C6C099AAE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298784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2800"/>
              <a:t>Tipos de gráficos apilados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  <a:defRPr sz="2000">
                <a:solidFill>
                  <a:srgbClr val="1E1E1E"/>
                </a:solidFill>
              </a:defRPr>
            </a:pPr>
            <a:r>
              <a:rPr lang="es-ES" sz="1700" dirty="0"/>
              <a:t> Gráfico de barras apiladas simple: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700" dirty="0"/>
              <a:t>Muestra los valores absolutos de cada </a:t>
            </a:r>
            <a:r>
              <a:rPr lang="es-ES" sz="1700" dirty="0" err="1"/>
              <a:t>subcategoría.La</a:t>
            </a:r>
            <a:r>
              <a:rPr lang="es-ES" sz="1700" dirty="0"/>
              <a:t> altura o longitud total de la barra representa el total real.</a:t>
            </a:r>
          </a:p>
          <a:p>
            <a:pPr marL="0" indent="0">
              <a:lnSpc>
                <a:spcPct val="90000"/>
              </a:lnSpc>
              <a:buNone/>
              <a:defRPr sz="2000">
                <a:solidFill>
                  <a:srgbClr val="1E1E1E"/>
                </a:solidFill>
              </a:defRPr>
            </a:pPr>
            <a:r>
              <a:rPr lang="es-ES" sz="1700" dirty="0"/>
              <a:t> Gráfico de barras apiladas 100%:</a:t>
            </a:r>
          </a:p>
          <a:p>
            <a:pPr>
              <a:lnSpc>
                <a:spcPct val="90000"/>
              </a:lnSpc>
              <a:defRPr sz="2000">
                <a:solidFill>
                  <a:srgbClr val="1E1E1E"/>
                </a:solidFill>
              </a:defRPr>
            </a:pPr>
            <a:r>
              <a:rPr lang="es-ES" sz="1700" dirty="0"/>
              <a:t>Muestra las proporciones relativas de cada </a:t>
            </a:r>
            <a:r>
              <a:rPr lang="es-ES" sz="1700" dirty="0" err="1"/>
              <a:t>subcategoría.Todas</a:t>
            </a:r>
            <a:r>
              <a:rPr lang="es-ES" sz="1700" dirty="0"/>
              <a:t> las barras tienen la misma longitud (100 %), permitiendo comparar porcentajes.</a:t>
            </a:r>
          </a:p>
        </p:txBody>
      </p:sp>
      <p:pic>
        <p:nvPicPr>
          <p:cNvPr id="5" name="Picture 4" descr="Gráfico">
            <a:extLst>
              <a:ext uri="{FF2B5EF4-FFF2-40B4-BE49-F238E27FC236}">
                <a16:creationId xmlns:a16="http://schemas.microsoft.com/office/drawing/2014/main" id="{B0434CF1-C79A-D4B6-EBCE-9EB71B6A39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24" r="32301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lculadora, lápiz, brújula, dinero y un papel con gráficos impresos en él">
            <a:extLst>
              <a:ext uri="{FF2B5EF4-FFF2-40B4-BE49-F238E27FC236}">
                <a16:creationId xmlns:a16="http://schemas.microsoft.com/office/drawing/2014/main" id="{F415D503-D825-6F97-A3C7-39038A434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12" r="21788" b="-2"/>
          <a:stretch>
            <a:fillRect/>
          </a:stretch>
        </p:blipFill>
        <p:spPr>
          <a:xfrm>
            <a:off x="3202390" y="-1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t>Ventajas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15143"/>
            <a:ext cx="2888342" cy="5105400"/>
          </a:xfrm>
        </p:spPr>
        <p:txBody>
          <a:bodyPr>
            <a:normAutofit fontScale="92500" lnSpcReduction="10000"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Permite ver la composición  interna de cada categoría.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Facilitan comparar totales y subcategorías en un mismo gráfico.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Ahorra espacio frente a mostrar varias gráficas separadas.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Son visualmente intuitivos y fáciles de interpretar.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2000" dirty="0"/>
              <a:t>Se pueden usar para mostrar valores absolutos o porcentajes (100 %).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lang="es-ES" sz="20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3129993" cy="1320800"/>
          </a:xfrm>
        </p:spPr>
        <p:txBody>
          <a:bodyPr>
            <a:normAutofit/>
          </a:bodyPr>
          <a:lstStyle/>
          <a:p>
            <a:r>
              <a:rPr lang="es-ES" dirty="0"/>
              <a:t>DESVENTAJAS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 fontScale="92500" lnSpcReduction="20000"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Cuando hay demasiadas subcategorías, el gráfico se vuelve difícil interpretar.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Es complicado comparar segmentos de diferentes barras (excepto el primero).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Puede ser engañoso si los totales son muy distintos.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No muestra bien pequeñas diferencias entre segmentos.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lang="es-ES" sz="1900" dirty="0"/>
          </a:p>
        </p:txBody>
      </p:sp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309F45B7-A440-F6D2-5B57-1B10144DDC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58" r="34467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5D984-0F53-C63B-57F8-11591CF0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E892-F56C-88D0-A756-E56B48D69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550" y="609600"/>
            <a:ext cx="3129993" cy="1320800"/>
          </a:xfrm>
        </p:spPr>
        <p:txBody>
          <a:bodyPr>
            <a:normAutofit/>
          </a:bodyPr>
          <a:lstStyle/>
          <a:p>
            <a:r>
              <a:rPr lang="es-ES" dirty="0"/>
              <a:t>ESTRUCTURA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A4A5-5EFD-B9D6-CEA7-9FC7D7C8B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 lnSpcReduction="10000"/>
          </a:bodyPr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Variable 1 (categórica principal): define el eje principal del gráfico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Variable 2 (categórica secundaria): define cómo se apila dentro de cada barra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 sz="1900" dirty="0"/>
              <a:t>Variable 3 (numérica): representa el valor que se mide y determina el tamaño o la altura del segmento</a:t>
            </a:r>
          </a:p>
        </p:txBody>
      </p:sp>
      <p:pic>
        <p:nvPicPr>
          <p:cNvPr id="5" name="Picture 4" descr="Gráficas financieras en una pantalla oscura">
            <a:extLst>
              <a:ext uri="{FF2B5EF4-FFF2-40B4-BE49-F238E27FC236}">
                <a16:creationId xmlns:a16="http://schemas.microsoft.com/office/drawing/2014/main" id="{B913E5C0-7A58-46E8-2479-841C80A87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58" r="34467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C95748F-6196-7BD1-E082-B7A1FAB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3156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dirty="0" err="1"/>
              <a:t>Buenas</a:t>
            </a:r>
            <a:r>
              <a:rPr dirty="0"/>
              <a:t> </a:t>
            </a:r>
            <a:r>
              <a:rPr dirty="0" err="1"/>
              <a:t>prácticas</a:t>
            </a:r>
            <a:r>
              <a:rPr dirty="0"/>
              <a:t> de </a:t>
            </a:r>
            <a:r>
              <a:rPr dirty="0" err="1"/>
              <a:t>diseño</a:t>
            </a:r>
            <a:endParaRPr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0A2F19-CA25-7276-5065-8B402660D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3902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>
                <a:solidFill>
                  <a:srgbClr val="1E1E1E"/>
                </a:solidFill>
              </a:defRPr>
            </a:pPr>
            <a:r>
              <a:rPr dirty="0"/>
              <a:t>Los </a:t>
            </a:r>
            <a:r>
              <a:rPr dirty="0" err="1"/>
              <a:t>gráficos</a:t>
            </a:r>
            <a:r>
              <a:rPr dirty="0"/>
              <a:t> de barras </a:t>
            </a:r>
            <a:r>
              <a:rPr dirty="0" err="1"/>
              <a:t>apiladas</a:t>
            </a:r>
            <a:r>
              <a:rPr dirty="0"/>
              <a:t> son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poderosa</a:t>
            </a:r>
            <a:r>
              <a:rPr dirty="0"/>
              <a:t> para </a:t>
            </a:r>
            <a:r>
              <a:rPr dirty="0" err="1"/>
              <a:t>mostrar</a:t>
            </a:r>
            <a:r>
              <a:rPr dirty="0"/>
              <a:t> la </a:t>
            </a:r>
            <a:r>
              <a:rPr dirty="0" err="1"/>
              <a:t>composición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dirty="0" err="1"/>
              <a:t>Cuando</a:t>
            </a:r>
            <a:r>
              <a:rPr dirty="0"/>
              <a:t> se </a:t>
            </a:r>
            <a:r>
              <a:rPr dirty="0" err="1"/>
              <a:t>usan</a:t>
            </a:r>
            <a:r>
              <a:rPr dirty="0"/>
              <a:t> con </a:t>
            </a:r>
            <a:r>
              <a:rPr dirty="0" err="1"/>
              <a:t>claridad</a:t>
            </a:r>
            <a:r>
              <a:rPr dirty="0"/>
              <a:t> y un </a:t>
            </a:r>
            <a:r>
              <a:rPr dirty="0" err="1"/>
              <a:t>diseño</a:t>
            </a:r>
            <a:r>
              <a:rPr dirty="0"/>
              <a:t> </a:t>
            </a:r>
            <a:r>
              <a:rPr dirty="0" err="1"/>
              <a:t>adecuado</a:t>
            </a:r>
            <a:r>
              <a:rPr dirty="0"/>
              <a:t>,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totales</a:t>
            </a:r>
            <a:r>
              <a:rPr dirty="0"/>
              <a:t> y partes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efectiva</a:t>
            </a:r>
            <a:r>
              <a:rPr dirty="0"/>
              <a:t>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  <a:p>
            <a:pPr>
              <a:defRPr sz="2000">
                <a:solidFill>
                  <a:srgbClr val="1E1E1E"/>
                </a:solidFill>
              </a:defRPr>
            </a:pPr>
            <a:r>
              <a:rPr lang="es-ES"/>
              <a:t>I</a:t>
            </a:r>
            <a:r>
              <a:t>deales</a:t>
            </a:r>
            <a:r>
              <a:rPr dirty="0"/>
              <a:t> para </a:t>
            </a:r>
            <a:r>
              <a:rPr dirty="0" err="1"/>
              <a:t>presentaciones</a:t>
            </a:r>
            <a:r>
              <a:rPr dirty="0"/>
              <a:t>, </a:t>
            </a:r>
            <a:r>
              <a:rPr dirty="0" err="1"/>
              <a:t>informes</a:t>
            </a:r>
            <a:r>
              <a:rPr dirty="0"/>
              <a:t> o dashboards</a:t>
            </a:r>
            <a:r>
              <a:rPr lang="es-ES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212</TotalTime>
  <Words>447</Words>
  <Application>Microsoft Office PowerPoint</Application>
  <PresentationFormat>Presentación en pantalla (4:3)</PresentationFormat>
  <Paragraphs>50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</vt:lpstr>
      <vt:lpstr>Gráficos de Barras Apiladas (Stacked Bar Graphs)</vt:lpstr>
      <vt:lpstr>DATASET Y TECNOLOGÍA UTILIZADA</vt:lpstr>
      <vt:lpstr>¿Qué es un gráfico de barras apiladas?</vt:lpstr>
      <vt:lpstr>¿Para qué se utiliza?</vt:lpstr>
      <vt:lpstr>Tipos de gráficos apilados</vt:lpstr>
      <vt:lpstr>Ventajas</vt:lpstr>
      <vt:lpstr>DESVENTAJAS</vt:lpstr>
      <vt:lpstr>ESTRUCTURA</vt:lpstr>
      <vt:lpstr>Buenas prácticas de diseño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Alberto Cacho Picón</dc:creator>
  <cp:keywords/>
  <dc:description>generated using python-pptx</dc:description>
  <cp:lastModifiedBy>Alberto Cacho Picón</cp:lastModifiedBy>
  <cp:revision>5</cp:revision>
  <dcterms:created xsi:type="dcterms:W3CDTF">2013-01-27T09:14:16Z</dcterms:created>
  <dcterms:modified xsi:type="dcterms:W3CDTF">2025-11-05T19:00:26Z</dcterms:modified>
  <cp:category/>
</cp:coreProperties>
</file>
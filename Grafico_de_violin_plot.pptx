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78" r:id="rId1"/>
  </p:sldMasterIdLst>
  <p:sldIdLst>
    <p:sldId id="256" r:id="rId2"/>
    <p:sldId id="257" r:id="rId3"/>
    <p:sldId id="258" r:id="rId4"/>
    <p:sldId id="260" r:id="rId5"/>
    <p:sldId id="261" r:id="rId6"/>
    <p:sldId id="265" r:id="rId7"/>
    <p:sldId id="262" r:id="rId8"/>
    <p:sldId id="264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59" d="100"/>
          <a:sy n="59" d="100"/>
        </p:scale>
        <p:origin x="1500" y="5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diagrams/_rels/data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svg"/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2" Type="http://schemas.openxmlformats.org/officeDocument/2006/relationships/image" Target="../media/image5.svg"/><Relationship Id="rId1" Type="http://schemas.openxmlformats.org/officeDocument/2006/relationships/image" Target="../media/image4.png"/><Relationship Id="rId6" Type="http://schemas.openxmlformats.org/officeDocument/2006/relationships/image" Target="../media/image9.svg"/><Relationship Id="rId5" Type="http://schemas.openxmlformats.org/officeDocument/2006/relationships/image" Target="../media/image8.png"/><Relationship Id="rId4" Type="http://schemas.openxmlformats.org/officeDocument/2006/relationships/image" Target="../media/image7.svg"/></Relationships>
</file>

<file path=ppt/diagrams/_rels/drawing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svg"/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2" Type="http://schemas.openxmlformats.org/officeDocument/2006/relationships/image" Target="../media/image5.svg"/><Relationship Id="rId1" Type="http://schemas.openxmlformats.org/officeDocument/2006/relationships/image" Target="../media/image4.png"/><Relationship Id="rId6" Type="http://schemas.openxmlformats.org/officeDocument/2006/relationships/image" Target="../media/image9.svg"/><Relationship Id="rId5" Type="http://schemas.openxmlformats.org/officeDocument/2006/relationships/image" Target="../media/image8.png"/><Relationship Id="rId4" Type="http://schemas.openxmlformats.org/officeDocument/2006/relationships/image" Target="../media/image7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18/5/colors/Iconchunking_neutralicon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B5DD7839-5D93-4C6D-99DC-9A43723C1A43}" type="doc">
      <dgm:prSet loTypeId="urn:microsoft.com/office/officeart/2005/8/layout/vList2" loCatId="list" qsTypeId="urn:microsoft.com/office/officeart/2005/8/quickstyle/simple4" qsCatId="simple" csTypeId="urn:microsoft.com/office/officeart/2005/8/colors/colorful2" csCatId="colorful" phldr="1"/>
      <dgm:spPr/>
      <dgm:t>
        <a:bodyPr/>
        <a:lstStyle/>
        <a:p>
          <a:endParaRPr lang="en-US"/>
        </a:p>
      </dgm:t>
    </dgm:pt>
    <dgm:pt modelId="{ACFD3A98-9B1C-4712-A978-8A46A7A0FBE4}">
      <dgm:prSet/>
      <dgm:spPr/>
      <dgm:t>
        <a:bodyPr/>
        <a:lstStyle/>
        <a:p>
          <a:r>
            <a:rPr lang="es-ES" dirty="0"/>
            <a:t>Para comparar la distribución de una variable entre diferentes grupos o categorías.</a:t>
          </a:r>
          <a:endParaRPr lang="en-US" dirty="0"/>
        </a:p>
      </dgm:t>
    </dgm:pt>
    <dgm:pt modelId="{68C3255F-1402-4F34-8EB2-BDAE04B01510}" type="parTrans" cxnId="{C979C245-DA8F-43CA-9D24-2D4BE2EDF193}">
      <dgm:prSet/>
      <dgm:spPr/>
      <dgm:t>
        <a:bodyPr/>
        <a:lstStyle/>
        <a:p>
          <a:endParaRPr lang="es-ES"/>
        </a:p>
      </dgm:t>
    </dgm:pt>
    <dgm:pt modelId="{6AE91095-C04D-4F93-8864-8D9EBBF96D50}" type="sibTrans" cxnId="{C979C245-DA8F-43CA-9D24-2D4BE2EDF193}">
      <dgm:prSet/>
      <dgm:spPr/>
      <dgm:t>
        <a:bodyPr/>
        <a:lstStyle/>
        <a:p>
          <a:endParaRPr lang="es-ES"/>
        </a:p>
      </dgm:t>
    </dgm:pt>
    <dgm:pt modelId="{458ED6B3-8D1E-4431-B436-28ED528EF710}">
      <dgm:prSet/>
      <dgm:spPr/>
      <dgm:t>
        <a:bodyPr/>
        <a:lstStyle/>
        <a:p>
          <a:r>
            <a:rPr lang="es-ES"/>
            <a:t>Para analizar la concentración de valores y ver dónde los datos son más frecuentes.</a:t>
          </a:r>
          <a:endParaRPr lang="en-US" dirty="0"/>
        </a:p>
      </dgm:t>
    </dgm:pt>
    <dgm:pt modelId="{DD6F868D-FDAD-42E4-93D0-DE977A6C2247}" type="parTrans" cxnId="{AD654C5C-11D6-4BE6-A853-4C0975860381}">
      <dgm:prSet/>
      <dgm:spPr/>
      <dgm:t>
        <a:bodyPr/>
        <a:lstStyle/>
        <a:p>
          <a:endParaRPr lang="es-ES"/>
        </a:p>
      </dgm:t>
    </dgm:pt>
    <dgm:pt modelId="{9D7CE811-471E-4D69-A4E7-0A9D7082CDF2}" type="sibTrans" cxnId="{AD654C5C-11D6-4BE6-A853-4C0975860381}">
      <dgm:prSet/>
      <dgm:spPr/>
      <dgm:t>
        <a:bodyPr/>
        <a:lstStyle/>
        <a:p>
          <a:endParaRPr lang="es-ES"/>
        </a:p>
      </dgm:t>
    </dgm:pt>
    <dgm:pt modelId="{8EE6856D-7FF5-4AB8-A05B-E21AA5F488B7}">
      <dgm:prSet/>
      <dgm:spPr/>
      <dgm:t>
        <a:bodyPr/>
        <a:lstStyle/>
        <a:p>
          <a:r>
            <a:rPr lang="es-ES" dirty="0"/>
            <a:t>Para identificar si los datos son simétricos o están sesgados hacia algún lado.</a:t>
          </a:r>
          <a:endParaRPr lang="en-US" dirty="0"/>
        </a:p>
      </dgm:t>
    </dgm:pt>
    <dgm:pt modelId="{94DFB8D3-A244-4CE8-9020-45681CA51A4C}" type="parTrans" cxnId="{7B37FE0E-D5E1-486B-89E0-4A501C9A1F80}">
      <dgm:prSet/>
      <dgm:spPr/>
      <dgm:t>
        <a:bodyPr/>
        <a:lstStyle/>
        <a:p>
          <a:endParaRPr lang="es-ES"/>
        </a:p>
      </dgm:t>
    </dgm:pt>
    <dgm:pt modelId="{7145A1D4-F528-4410-8D9E-5A0983268560}" type="sibTrans" cxnId="{7B37FE0E-D5E1-486B-89E0-4A501C9A1F80}">
      <dgm:prSet/>
      <dgm:spPr/>
      <dgm:t>
        <a:bodyPr/>
        <a:lstStyle/>
        <a:p>
          <a:endParaRPr lang="es-ES"/>
        </a:p>
      </dgm:t>
    </dgm:pt>
    <dgm:pt modelId="{790F2E9A-1DB2-4F98-9F7D-F52314D73B0F}">
      <dgm:prSet/>
      <dgm:spPr/>
      <dgm:t>
        <a:bodyPr/>
        <a:lstStyle/>
        <a:p>
          <a:r>
            <a:rPr lang="es-ES" dirty="0"/>
            <a:t>Permite detectar variabilidad, dispersión o la presencia de varios picos en la distribución.</a:t>
          </a:r>
          <a:endParaRPr lang="en-US" dirty="0"/>
        </a:p>
      </dgm:t>
    </dgm:pt>
    <dgm:pt modelId="{CDD675D8-8336-4B3A-B440-DE8F1D876A02}" type="parTrans" cxnId="{662FD8E8-B523-42E8-A7CC-F751B5465540}">
      <dgm:prSet/>
      <dgm:spPr/>
      <dgm:t>
        <a:bodyPr/>
        <a:lstStyle/>
        <a:p>
          <a:endParaRPr lang="es-ES"/>
        </a:p>
      </dgm:t>
    </dgm:pt>
    <dgm:pt modelId="{4115AC80-10BD-4BF2-A0D9-2EB4CCC955E8}" type="sibTrans" cxnId="{662FD8E8-B523-42E8-A7CC-F751B5465540}">
      <dgm:prSet/>
      <dgm:spPr/>
      <dgm:t>
        <a:bodyPr/>
        <a:lstStyle/>
        <a:p>
          <a:endParaRPr lang="es-ES"/>
        </a:p>
      </dgm:t>
    </dgm:pt>
    <dgm:pt modelId="{20969F06-FE8B-4AA8-A36F-BBD5626073CE}">
      <dgm:prSet/>
      <dgm:spPr/>
      <dgm:t>
        <a:bodyPr/>
        <a:lstStyle/>
        <a:p>
          <a:r>
            <a:rPr lang="es-ES" dirty="0"/>
            <a:t>Muy útil en análisis estadístico, exploración de datos y presentaciones comparativas.</a:t>
          </a:r>
          <a:endParaRPr lang="en-US" dirty="0"/>
        </a:p>
      </dgm:t>
    </dgm:pt>
    <dgm:pt modelId="{CF1524E0-8869-4148-A144-2CB037A3FDDE}" type="parTrans" cxnId="{CD4CF4C1-5432-4D04-992B-43A6E2385997}">
      <dgm:prSet/>
      <dgm:spPr/>
      <dgm:t>
        <a:bodyPr/>
        <a:lstStyle/>
        <a:p>
          <a:endParaRPr lang="es-ES"/>
        </a:p>
      </dgm:t>
    </dgm:pt>
    <dgm:pt modelId="{8C24FFC4-135C-4FA4-AEC3-B633A3973C4C}" type="sibTrans" cxnId="{CD4CF4C1-5432-4D04-992B-43A6E2385997}">
      <dgm:prSet/>
      <dgm:spPr/>
      <dgm:t>
        <a:bodyPr/>
        <a:lstStyle/>
        <a:p>
          <a:endParaRPr lang="es-ES"/>
        </a:p>
      </dgm:t>
    </dgm:pt>
    <dgm:pt modelId="{98D124C5-B3AF-42E4-B130-DA033C521616}" type="pres">
      <dgm:prSet presAssocID="{B5DD7839-5D93-4C6D-99DC-9A43723C1A43}" presName="linear" presStyleCnt="0">
        <dgm:presLayoutVars>
          <dgm:animLvl val="lvl"/>
          <dgm:resizeHandles val="exact"/>
        </dgm:presLayoutVars>
      </dgm:prSet>
      <dgm:spPr/>
    </dgm:pt>
    <dgm:pt modelId="{EFF86D0E-E769-4A56-9AFC-E9E518988C5A}" type="pres">
      <dgm:prSet presAssocID="{ACFD3A98-9B1C-4712-A978-8A46A7A0FBE4}" presName="parentText" presStyleLbl="node1" presStyleIdx="0" presStyleCnt="5">
        <dgm:presLayoutVars>
          <dgm:chMax val="0"/>
          <dgm:bulletEnabled val="1"/>
        </dgm:presLayoutVars>
      </dgm:prSet>
      <dgm:spPr/>
    </dgm:pt>
    <dgm:pt modelId="{1458648A-49AB-434A-B288-C6C2920B093D}" type="pres">
      <dgm:prSet presAssocID="{6AE91095-C04D-4F93-8864-8D9EBBF96D50}" presName="spacer" presStyleCnt="0"/>
      <dgm:spPr/>
    </dgm:pt>
    <dgm:pt modelId="{1929D940-5B9A-493A-BBD8-93A4658F1752}" type="pres">
      <dgm:prSet presAssocID="{458ED6B3-8D1E-4431-B436-28ED528EF710}" presName="parentText" presStyleLbl="node1" presStyleIdx="1" presStyleCnt="5">
        <dgm:presLayoutVars>
          <dgm:chMax val="0"/>
          <dgm:bulletEnabled val="1"/>
        </dgm:presLayoutVars>
      </dgm:prSet>
      <dgm:spPr/>
    </dgm:pt>
    <dgm:pt modelId="{7306C202-63EE-44AA-A28A-7414D9083D08}" type="pres">
      <dgm:prSet presAssocID="{9D7CE811-471E-4D69-A4E7-0A9D7082CDF2}" presName="spacer" presStyleCnt="0"/>
      <dgm:spPr/>
    </dgm:pt>
    <dgm:pt modelId="{54267B87-44FC-4B3E-87F6-E810B60A243E}" type="pres">
      <dgm:prSet presAssocID="{8EE6856D-7FF5-4AB8-A05B-E21AA5F488B7}" presName="parentText" presStyleLbl="node1" presStyleIdx="2" presStyleCnt="5">
        <dgm:presLayoutVars>
          <dgm:chMax val="0"/>
          <dgm:bulletEnabled val="1"/>
        </dgm:presLayoutVars>
      </dgm:prSet>
      <dgm:spPr/>
    </dgm:pt>
    <dgm:pt modelId="{04BEC54A-EAA7-4E19-B8F6-0C340408BC2D}" type="pres">
      <dgm:prSet presAssocID="{7145A1D4-F528-4410-8D9E-5A0983268560}" presName="spacer" presStyleCnt="0"/>
      <dgm:spPr/>
    </dgm:pt>
    <dgm:pt modelId="{60F19A2D-5554-4D0C-8176-A375E036D979}" type="pres">
      <dgm:prSet presAssocID="{790F2E9A-1DB2-4F98-9F7D-F52314D73B0F}" presName="parentText" presStyleLbl="node1" presStyleIdx="3" presStyleCnt="5">
        <dgm:presLayoutVars>
          <dgm:chMax val="0"/>
          <dgm:bulletEnabled val="1"/>
        </dgm:presLayoutVars>
      </dgm:prSet>
      <dgm:spPr/>
    </dgm:pt>
    <dgm:pt modelId="{E2662B77-8A59-4B54-A385-CAF9068BB5D5}" type="pres">
      <dgm:prSet presAssocID="{4115AC80-10BD-4BF2-A0D9-2EB4CCC955E8}" presName="spacer" presStyleCnt="0"/>
      <dgm:spPr/>
    </dgm:pt>
    <dgm:pt modelId="{98B04DE5-C0BF-43DE-B42D-F958059269CD}" type="pres">
      <dgm:prSet presAssocID="{20969F06-FE8B-4AA8-A36F-BBD5626073CE}" presName="parentText" presStyleLbl="node1" presStyleIdx="4" presStyleCnt="5">
        <dgm:presLayoutVars>
          <dgm:chMax val="0"/>
          <dgm:bulletEnabled val="1"/>
        </dgm:presLayoutVars>
      </dgm:prSet>
      <dgm:spPr/>
    </dgm:pt>
  </dgm:ptLst>
  <dgm:cxnLst>
    <dgm:cxn modelId="{7B37FE0E-D5E1-486B-89E0-4A501C9A1F80}" srcId="{B5DD7839-5D93-4C6D-99DC-9A43723C1A43}" destId="{8EE6856D-7FF5-4AB8-A05B-E21AA5F488B7}" srcOrd="2" destOrd="0" parTransId="{94DFB8D3-A244-4CE8-9020-45681CA51A4C}" sibTransId="{7145A1D4-F528-4410-8D9E-5A0983268560}"/>
    <dgm:cxn modelId="{6EF21E31-C073-4898-BC40-BD16CBC7B286}" type="presOf" srcId="{8EE6856D-7FF5-4AB8-A05B-E21AA5F488B7}" destId="{54267B87-44FC-4B3E-87F6-E810B60A243E}" srcOrd="0" destOrd="0" presId="urn:microsoft.com/office/officeart/2005/8/layout/vList2"/>
    <dgm:cxn modelId="{AD654C5C-11D6-4BE6-A853-4C0975860381}" srcId="{B5DD7839-5D93-4C6D-99DC-9A43723C1A43}" destId="{458ED6B3-8D1E-4431-B436-28ED528EF710}" srcOrd="1" destOrd="0" parTransId="{DD6F868D-FDAD-42E4-93D0-DE977A6C2247}" sibTransId="{9D7CE811-471E-4D69-A4E7-0A9D7082CDF2}"/>
    <dgm:cxn modelId="{05588045-1EE2-47FB-B13B-A8FD0F89544E}" type="presOf" srcId="{B5DD7839-5D93-4C6D-99DC-9A43723C1A43}" destId="{98D124C5-B3AF-42E4-B130-DA033C521616}" srcOrd="0" destOrd="0" presId="urn:microsoft.com/office/officeart/2005/8/layout/vList2"/>
    <dgm:cxn modelId="{C979C245-DA8F-43CA-9D24-2D4BE2EDF193}" srcId="{B5DD7839-5D93-4C6D-99DC-9A43723C1A43}" destId="{ACFD3A98-9B1C-4712-A978-8A46A7A0FBE4}" srcOrd="0" destOrd="0" parTransId="{68C3255F-1402-4F34-8EB2-BDAE04B01510}" sibTransId="{6AE91095-C04D-4F93-8864-8D9EBBF96D50}"/>
    <dgm:cxn modelId="{99EDEC45-C258-4F7B-9A18-E4335FBA297A}" type="presOf" srcId="{458ED6B3-8D1E-4431-B436-28ED528EF710}" destId="{1929D940-5B9A-493A-BBD8-93A4658F1752}" srcOrd="0" destOrd="0" presId="urn:microsoft.com/office/officeart/2005/8/layout/vList2"/>
    <dgm:cxn modelId="{135FAF4A-C939-4F0A-980F-549403006879}" type="presOf" srcId="{20969F06-FE8B-4AA8-A36F-BBD5626073CE}" destId="{98B04DE5-C0BF-43DE-B42D-F958059269CD}" srcOrd="0" destOrd="0" presId="urn:microsoft.com/office/officeart/2005/8/layout/vList2"/>
    <dgm:cxn modelId="{F2EAA887-15A0-448B-9E1C-71487E7D680A}" type="presOf" srcId="{790F2E9A-1DB2-4F98-9F7D-F52314D73B0F}" destId="{60F19A2D-5554-4D0C-8176-A375E036D979}" srcOrd="0" destOrd="0" presId="urn:microsoft.com/office/officeart/2005/8/layout/vList2"/>
    <dgm:cxn modelId="{CD4CF4C1-5432-4D04-992B-43A6E2385997}" srcId="{B5DD7839-5D93-4C6D-99DC-9A43723C1A43}" destId="{20969F06-FE8B-4AA8-A36F-BBD5626073CE}" srcOrd="4" destOrd="0" parTransId="{CF1524E0-8869-4148-A144-2CB037A3FDDE}" sibTransId="{8C24FFC4-135C-4FA4-AEC3-B633A3973C4C}"/>
    <dgm:cxn modelId="{662FD8E8-B523-42E8-A7CC-F751B5465540}" srcId="{B5DD7839-5D93-4C6D-99DC-9A43723C1A43}" destId="{790F2E9A-1DB2-4F98-9F7D-F52314D73B0F}" srcOrd="3" destOrd="0" parTransId="{CDD675D8-8336-4B3A-B440-DE8F1D876A02}" sibTransId="{4115AC80-10BD-4BF2-A0D9-2EB4CCC955E8}"/>
    <dgm:cxn modelId="{692A88FA-1028-4498-9006-552F9E8742F9}" type="presOf" srcId="{ACFD3A98-9B1C-4712-A978-8A46A7A0FBE4}" destId="{EFF86D0E-E769-4A56-9AFC-E9E518988C5A}" srcOrd="0" destOrd="0" presId="urn:microsoft.com/office/officeart/2005/8/layout/vList2"/>
    <dgm:cxn modelId="{8F6818E7-BB63-4B99-B792-7586C3C2E91C}" type="presParOf" srcId="{98D124C5-B3AF-42E4-B130-DA033C521616}" destId="{EFF86D0E-E769-4A56-9AFC-E9E518988C5A}" srcOrd="0" destOrd="0" presId="urn:microsoft.com/office/officeart/2005/8/layout/vList2"/>
    <dgm:cxn modelId="{23B10DEE-1B8A-485C-86C3-BF130004C3A5}" type="presParOf" srcId="{98D124C5-B3AF-42E4-B130-DA033C521616}" destId="{1458648A-49AB-434A-B288-C6C2920B093D}" srcOrd="1" destOrd="0" presId="urn:microsoft.com/office/officeart/2005/8/layout/vList2"/>
    <dgm:cxn modelId="{ECF865F1-8B1D-4B0F-8DF8-FBDEB13911EE}" type="presParOf" srcId="{98D124C5-B3AF-42E4-B130-DA033C521616}" destId="{1929D940-5B9A-493A-BBD8-93A4658F1752}" srcOrd="2" destOrd="0" presId="urn:microsoft.com/office/officeart/2005/8/layout/vList2"/>
    <dgm:cxn modelId="{FF848604-0CA5-49F8-AC8A-B38825E21FEB}" type="presParOf" srcId="{98D124C5-B3AF-42E4-B130-DA033C521616}" destId="{7306C202-63EE-44AA-A28A-7414D9083D08}" srcOrd="3" destOrd="0" presId="urn:microsoft.com/office/officeart/2005/8/layout/vList2"/>
    <dgm:cxn modelId="{317A526F-88DB-4987-843A-D461E7E5B564}" type="presParOf" srcId="{98D124C5-B3AF-42E4-B130-DA033C521616}" destId="{54267B87-44FC-4B3E-87F6-E810B60A243E}" srcOrd="4" destOrd="0" presId="urn:microsoft.com/office/officeart/2005/8/layout/vList2"/>
    <dgm:cxn modelId="{12FC0CDB-87C2-4506-858B-D89585CC98BB}" type="presParOf" srcId="{98D124C5-B3AF-42E4-B130-DA033C521616}" destId="{04BEC54A-EAA7-4E19-B8F6-0C340408BC2D}" srcOrd="5" destOrd="0" presId="urn:microsoft.com/office/officeart/2005/8/layout/vList2"/>
    <dgm:cxn modelId="{0D2BEBCD-78BC-4FDA-AEBE-205A894E4D7B}" type="presParOf" srcId="{98D124C5-B3AF-42E4-B130-DA033C521616}" destId="{60F19A2D-5554-4D0C-8176-A375E036D979}" srcOrd="6" destOrd="0" presId="urn:microsoft.com/office/officeart/2005/8/layout/vList2"/>
    <dgm:cxn modelId="{0DBEE0A9-17A8-445B-983B-A55033EF02C2}" type="presParOf" srcId="{98D124C5-B3AF-42E4-B130-DA033C521616}" destId="{E2662B77-8A59-4B54-A385-CAF9068BB5D5}" srcOrd="7" destOrd="0" presId="urn:microsoft.com/office/officeart/2005/8/layout/vList2"/>
    <dgm:cxn modelId="{ADE2B2D5-52E8-4F0D-B11E-F0E81586B34A}" type="presParOf" srcId="{98D124C5-B3AF-42E4-B130-DA033C521616}" destId="{98B04DE5-C0BF-43DE-B42D-F958059269CD}" srcOrd="8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1DD208E2-DCC3-4ED7-8527-F483A195178B}" type="doc">
      <dgm:prSet loTypeId="urn:microsoft.com/office/officeart/2018/5/layout/IconCircleLabelList" loCatId="icon" qsTypeId="urn:microsoft.com/office/officeart/2005/8/quickstyle/simple1" qsCatId="simple" csTypeId="urn:microsoft.com/office/officeart/2018/5/colors/Iconchunking_neutralicon_colorful1" csCatId="colorful" phldr="1"/>
      <dgm:spPr/>
      <dgm:t>
        <a:bodyPr/>
        <a:lstStyle/>
        <a:p>
          <a:endParaRPr lang="en-US"/>
        </a:p>
      </dgm:t>
    </dgm:pt>
    <dgm:pt modelId="{01D70F88-D40E-4D57-B3C0-2795170023F1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US" dirty="0"/>
            <a:t>Usa </a:t>
          </a:r>
          <a:r>
            <a:rPr lang="en-US" dirty="0" err="1"/>
            <a:t>pocos</a:t>
          </a:r>
          <a:r>
            <a:rPr lang="en-US" dirty="0"/>
            <a:t> </a:t>
          </a:r>
          <a:r>
            <a:rPr lang="en-US" dirty="0" err="1"/>
            <a:t>colores</a:t>
          </a:r>
          <a:r>
            <a:rPr lang="en-US" dirty="0"/>
            <a:t> y bien </a:t>
          </a:r>
          <a:r>
            <a:rPr lang="en-US" dirty="0" err="1"/>
            <a:t>contrastados</a:t>
          </a:r>
          <a:r>
            <a:rPr lang="en-US" dirty="0"/>
            <a:t>.</a:t>
          </a:r>
        </a:p>
      </dgm:t>
    </dgm:pt>
    <dgm:pt modelId="{C9C1D00E-A157-4F9A-9428-FD6DC4832209}" type="parTrans" cxnId="{C641297C-140B-4758-A6CF-1E52A8643458}">
      <dgm:prSet/>
      <dgm:spPr/>
      <dgm:t>
        <a:bodyPr/>
        <a:lstStyle/>
        <a:p>
          <a:endParaRPr lang="en-US"/>
        </a:p>
      </dgm:t>
    </dgm:pt>
    <dgm:pt modelId="{04B5D7A3-896F-48E5-A4BA-D1E51860A18B}" type="sibTrans" cxnId="{C641297C-140B-4758-A6CF-1E52A8643458}">
      <dgm:prSet/>
      <dgm:spPr/>
      <dgm:t>
        <a:bodyPr/>
        <a:lstStyle/>
        <a:p>
          <a:endParaRPr lang="en-US"/>
        </a:p>
      </dgm:t>
    </dgm:pt>
    <dgm:pt modelId="{9AB09FE9-8871-4011-8174-A508B470B328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US" dirty="0"/>
            <a:t> Ordena las barras de forma </a:t>
          </a:r>
          <a:r>
            <a:rPr lang="en-US" dirty="0" err="1"/>
            <a:t>lógica</a:t>
          </a:r>
          <a:r>
            <a:rPr lang="en-US" dirty="0"/>
            <a:t> (</a:t>
          </a:r>
          <a:r>
            <a:rPr lang="en-US" dirty="0" err="1"/>
            <a:t>por</a:t>
          </a:r>
          <a:r>
            <a:rPr lang="en-US" dirty="0"/>
            <a:t> total o </a:t>
          </a:r>
          <a:r>
            <a:rPr lang="en-US" dirty="0" err="1"/>
            <a:t>alfabéticamente</a:t>
          </a:r>
          <a:r>
            <a:rPr lang="en-US" dirty="0"/>
            <a:t>).</a:t>
          </a:r>
        </a:p>
      </dgm:t>
    </dgm:pt>
    <dgm:pt modelId="{78447A4B-5C85-4176-9B5C-EA38812A5CF8}" type="parTrans" cxnId="{0EAC2CB6-D108-40EF-97F4-0DC515053C2B}">
      <dgm:prSet/>
      <dgm:spPr/>
      <dgm:t>
        <a:bodyPr/>
        <a:lstStyle/>
        <a:p>
          <a:endParaRPr lang="en-US"/>
        </a:p>
      </dgm:t>
    </dgm:pt>
    <dgm:pt modelId="{BE7639BD-E349-489D-94A8-D38CE49BC13C}" type="sibTrans" cxnId="{0EAC2CB6-D108-40EF-97F4-0DC515053C2B}">
      <dgm:prSet/>
      <dgm:spPr/>
      <dgm:t>
        <a:bodyPr/>
        <a:lstStyle/>
        <a:p>
          <a:endParaRPr lang="en-US"/>
        </a:p>
      </dgm:t>
    </dgm:pt>
    <dgm:pt modelId="{95D5BFA2-8B1C-4740-B988-CCFCC535DB4A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US" dirty="0" err="1"/>
            <a:t>Mantén</a:t>
          </a:r>
          <a:r>
            <a:rPr lang="en-US" dirty="0"/>
            <a:t> </a:t>
          </a:r>
          <a:r>
            <a:rPr lang="en-US" dirty="0" err="1"/>
            <a:t>consistencia</a:t>
          </a:r>
          <a:r>
            <a:rPr lang="en-US" dirty="0"/>
            <a:t> </a:t>
          </a:r>
          <a:r>
            <a:rPr lang="en-US" dirty="0" err="1"/>
            <a:t>en</a:t>
          </a:r>
          <a:r>
            <a:rPr lang="en-US" dirty="0"/>
            <a:t> </a:t>
          </a:r>
          <a:r>
            <a:rPr lang="en-US" dirty="0" err="1"/>
            <a:t>los</a:t>
          </a:r>
          <a:r>
            <a:rPr lang="en-US" dirty="0"/>
            <a:t> </a:t>
          </a:r>
          <a:r>
            <a:rPr lang="en-US" dirty="0" err="1"/>
            <a:t>colores</a:t>
          </a:r>
          <a:r>
            <a:rPr lang="en-US" dirty="0"/>
            <a:t> de </a:t>
          </a:r>
          <a:r>
            <a:rPr lang="en-US" dirty="0" err="1"/>
            <a:t>cada</a:t>
          </a:r>
          <a:r>
            <a:rPr lang="en-US" dirty="0"/>
            <a:t> </a:t>
          </a:r>
          <a:r>
            <a:rPr lang="en-US" dirty="0" err="1"/>
            <a:t>subcategoría</a:t>
          </a:r>
          <a:r>
            <a:rPr lang="en-US" dirty="0"/>
            <a:t>.</a:t>
          </a:r>
        </a:p>
      </dgm:t>
    </dgm:pt>
    <dgm:pt modelId="{AFED4426-7987-40F0-86CA-1BC65D42B9C8}" type="parTrans" cxnId="{CCEA9CF5-36A3-4392-8752-2EE5FA2086E2}">
      <dgm:prSet/>
      <dgm:spPr/>
      <dgm:t>
        <a:bodyPr/>
        <a:lstStyle/>
        <a:p>
          <a:endParaRPr lang="en-US"/>
        </a:p>
      </dgm:t>
    </dgm:pt>
    <dgm:pt modelId="{4A1A68DC-F087-4F19-AA95-E4731CEFE57C}" type="sibTrans" cxnId="{CCEA9CF5-36A3-4392-8752-2EE5FA2086E2}">
      <dgm:prSet/>
      <dgm:spPr/>
      <dgm:t>
        <a:bodyPr/>
        <a:lstStyle/>
        <a:p>
          <a:endParaRPr lang="en-US"/>
        </a:p>
      </dgm:t>
    </dgm:pt>
    <dgm:pt modelId="{B398CABB-4E51-4F43-8A7C-566CB02CB6C7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US" dirty="0" err="1"/>
            <a:t>Añade</a:t>
          </a:r>
          <a:r>
            <a:rPr lang="en-US" dirty="0"/>
            <a:t> </a:t>
          </a:r>
          <a:r>
            <a:rPr lang="en-US" dirty="0" err="1"/>
            <a:t>etiquetas</a:t>
          </a:r>
          <a:r>
            <a:rPr lang="en-US" dirty="0"/>
            <a:t> o </a:t>
          </a:r>
          <a:r>
            <a:rPr lang="en-US" dirty="0" err="1"/>
            <a:t>totales</a:t>
          </a:r>
          <a:r>
            <a:rPr lang="en-US" dirty="0"/>
            <a:t> </a:t>
          </a:r>
          <a:r>
            <a:rPr lang="en-US" dirty="0" err="1"/>
            <a:t>cuando</a:t>
          </a:r>
          <a:r>
            <a:rPr lang="en-US" dirty="0"/>
            <a:t> sea </a:t>
          </a:r>
          <a:r>
            <a:rPr lang="en-US" dirty="0" err="1"/>
            <a:t>relevante</a:t>
          </a:r>
          <a:r>
            <a:rPr lang="en-US" dirty="0"/>
            <a:t>.</a:t>
          </a:r>
        </a:p>
      </dgm:t>
    </dgm:pt>
    <dgm:pt modelId="{3E1D9153-1A7A-4C3E-9003-F9FAD6483824}" type="parTrans" cxnId="{13425521-C03C-4327-986D-48D97A52052B}">
      <dgm:prSet/>
      <dgm:spPr/>
      <dgm:t>
        <a:bodyPr/>
        <a:lstStyle/>
        <a:p>
          <a:endParaRPr lang="en-US"/>
        </a:p>
      </dgm:t>
    </dgm:pt>
    <dgm:pt modelId="{60119EE1-DF93-41F1-94DF-969FB817619F}" type="sibTrans" cxnId="{13425521-C03C-4327-986D-48D97A52052B}">
      <dgm:prSet/>
      <dgm:spPr/>
      <dgm:t>
        <a:bodyPr/>
        <a:lstStyle/>
        <a:p>
          <a:endParaRPr lang="en-US"/>
        </a:p>
      </dgm:t>
    </dgm:pt>
    <dgm:pt modelId="{C5FF2DA9-245D-4FF9-83C9-3432B5E12A77}" type="pres">
      <dgm:prSet presAssocID="{1DD208E2-DCC3-4ED7-8527-F483A195178B}" presName="root" presStyleCnt="0">
        <dgm:presLayoutVars>
          <dgm:dir/>
          <dgm:resizeHandles val="exact"/>
        </dgm:presLayoutVars>
      </dgm:prSet>
      <dgm:spPr/>
    </dgm:pt>
    <dgm:pt modelId="{05E169FC-DB2B-4E3E-AAEA-CFDB769E4172}" type="pres">
      <dgm:prSet presAssocID="{01D70F88-D40E-4D57-B3C0-2795170023F1}" presName="compNode" presStyleCnt="0"/>
      <dgm:spPr/>
    </dgm:pt>
    <dgm:pt modelId="{807657F2-EFC1-44D8-AC88-347A498A1CF0}" type="pres">
      <dgm:prSet presAssocID="{01D70F88-D40E-4D57-B3C0-2795170023F1}" presName="iconBgRect" presStyleLbl="bgShp" presStyleIdx="0" presStyleCnt="4"/>
      <dgm:spPr/>
    </dgm:pt>
    <dgm:pt modelId="{CF63D2A0-1A61-4EBE-A81E-50F7D98E9DC7}" type="pres">
      <dgm:prSet presAssocID="{01D70F88-D40E-4D57-B3C0-2795170023F1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aleta"/>
        </a:ext>
      </dgm:extLst>
    </dgm:pt>
    <dgm:pt modelId="{DD540AF4-F5D4-40D6-A58E-30315794F96C}" type="pres">
      <dgm:prSet presAssocID="{01D70F88-D40E-4D57-B3C0-2795170023F1}" presName="spaceRect" presStyleCnt="0"/>
      <dgm:spPr/>
    </dgm:pt>
    <dgm:pt modelId="{85EEAE4F-594D-4B4E-9AE3-3ECBE7F48920}" type="pres">
      <dgm:prSet presAssocID="{01D70F88-D40E-4D57-B3C0-2795170023F1}" presName="textRect" presStyleLbl="revTx" presStyleIdx="0" presStyleCnt="4">
        <dgm:presLayoutVars>
          <dgm:chMax val="1"/>
          <dgm:chPref val="1"/>
        </dgm:presLayoutVars>
      </dgm:prSet>
      <dgm:spPr/>
    </dgm:pt>
    <dgm:pt modelId="{8C38E5CA-C2A4-4E6C-B5A2-930A149B1B7E}" type="pres">
      <dgm:prSet presAssocID="{04B5D7A3-896F-48E5-A4BA-D1E51860A18B}" presName="sibTrans" presStyleCnt="0"/>
      <dgm:spPr/>
    </dgm:pt>
    <dgm:pt modelId="{0D2F3A1F-F96F-41CA-9C74-2941FDF6043A}" type="pres">
      <dgm:prSet presAssocID="{9AB09FE9-8871-4011-8174-A508B470B328}" presName="compNode" presStyleCnt="0"/>
      <dgm:spPr/>
    </dgm:pt>
    <dgm:pt modelId="{9B29574F-9211-4BED-A964-B80F08388039}" type="pres">
      <dgm:prSet presAssocID="{9AB09FE9-8871-4011-8174-A508B470B328}" presName="iconBgRect" presStyleLbl="bgShp" presStyleIdx="1" presStyleCnt="4"/>
      <dgm:spPr/>
    </dgm:pt>
    <dgm:pt modelId="{B70AE346-B74C-464A-8CB3-B31E6C5741C0}" type="pres">
      <dgm:prSet presAssocID="{9AB09FE9-8871-4011-8174-A508B470B328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Tabla"/>
        </a:ext>
      </dgm:extLst>
    </dgm:pt>
    <dgm:pt modelId="{7979EE5A-CB29-4764-9A12-C8EDBB652A9E}" type="pres">
      <dgm:prSet presAssocID="{9AB09FE9-8871-4011-8174-A508B470B328}" presName="spaceRect" presStyleCnt="0"/>
      <dgm:spPr/>
    </dgm:pt>
    <dgm:pt modelId="{6E10BAA4-26A9-49E0-9B39-2B7A942C8822}" type="pres">
      <dgm:prSet presAssocID="{9AB09FE9-8871-4011-8174-A508B470B328}" presName="textRect" presStyleLbl="revTx" presStyleIdx="1" presStyleCnt="4">
        <dgm:presLayoutVars>
          <dgm:chMax val="1"/>
          <dgm:chPref val="1"/>
        </dgm:presLayoutVars>
      </dgm:prSet>
      <dgm:spPr/>
    </dgm:pt>
    <dgm:pt modelId="{43CC8A3A-3F44-48FF-8E41-A42A23FC971B}" type="pres">
      <dgm:prSet presAssocID="{BE7639BD-E349-489D-94A8-D38CE49BC13C}" presName="sibTrans" presStyleCnt="0"/>
      <dgm:spPr/>
    </dgm:pt>
    <dgm:pt modelId="{A1EDF185-BC28-4EA4-8721-6B2CAD73744F}" type="pres">
      <dgm:prSet presAssocID="{95D5BFA2-8B1C-4740-B988-CCFCC535DB4A}" presName="compNode" presStyleCnt="0"/>
      <dgm:spPr/>
    </dgm:pt>
    <dgm:pt modelId="{6760779C-0DB8-4CEA-9F9B-BF5BB7B59C3A}" type="pres">
      <dgm:prSet presAssocID="{95D5BFA2-8B1C-4740-B988-CCFCC535DB4A}" presName="iconBgRect" presStyleLbl="bgShp" presStyleIdx="2" presStyleCnt="4"/>
      <dgm:spPr/>
    </dgm:pt>
    <dgm:pt modelId="{BB418DE4-4713-4D24-AFDB-A09EE43467EA}" type="pres">
      <dgm:prSet presAssocID="{95D5BFA2-8B1C-4740-B988-CCFCC535DB4A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intura"/>
        </a:ext>
      </dgm:extLst>
    </dgm:pt>
    <dgm:pt modelId="{F91CE880-FA3F-423A-802C-1C4F42928FB6}" type="pres">
      <dgm:prSet presAssocID="{95D5BFA2-8B1C-4740-B988-CCFCC535DB4A}" presName="spaceRect" presStyleCnt="0"/>
      <dgm:spPr/>
    </dgm:pt>
    <dgm:pt modelId="{98E70558-762D-497A-BEF1-D06044C35015}" type="pres">
      <dgm:prSet presAssocID="{95D5BFA2-8B1C-4740-B988-CCFCC535DB4A}" presName="textRect" presStyleLbl="revTx" presStyleIdx="2" presStyleCnt="4">
        <dgm:presLayoutVars>
          <dgm:chMax val="1"/>
          <dgm:chPref val="1"/>
        </dgm:presLayoutVars>
      </dgm:prSet>
      <dgm:spPr/>
    </dgm:pt>
    <dgm:pt modelId="{68A63AE9-290B-44C3-8DA5-AB992D660AD0}" type="pres">
      <dgm:prSet presAssocID="{4A1A68DC-F087-4F19-AA95-E4731CEFE57C}" presName="sibTrans" presStyleCnt="0"/>
      <dgm:spPr/>
    </dgm:pt>
    <dgm:pt modelId="{F0FDAF41-1188-4DDF-90D1-0BF35E053A8B}" type="pres">
      <dgm:prSet presAssocID="{B398CABB-4E51-4F43-8A7C-566CB02CB6C7}" presName="compNode" presStyleCnt="0"/>
      <dgm:spPr/>
    </dgm:pt>
    <dgm:pt modelId="{AB847F8A-1A48-4763-94D7-5FAA1DD30120}" type="pres">
      <dgm:prSet presAssocID="{B398CABB-4E51-4F43-8A7C-566CB02CB6C7}" presName="iconBgRect" presStyleLbl="bgShp" presStyleIdx="3" presStyleCnt="4"/>
      <dgm:spPr/>
    </dgm:pt>
    <dgm:pt modelId="{788C6DFA-2797-4CB0-BDFD-2FC33E6109F4}" type="pres">
      <dgm:prSet presAssocID="{B398CABB-4E51-4F43-8A7C-566CB02CB6C7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Marcador"/>
        </a:ext>
      </dgm:extLst>
    </dgm:pt>
    <dgm:pt modelId="{4995AA87-5AFB-4526-AB0A-B0A63CADCB56}" type="pres">
      <dgm:prSet presAssocID="{B398CABB-4E51-4F43-8A7C-566CB02CB6C7}" presName="spaceRect" presStyleCnt="0"/>
      <dgm:spPr/>
    </dgm:pt>
    <dgm:pt modelId="{3E9CD62D-09BD-4086-8836-7A19062AF15F}" type="pres">
      <dgm:prSet presAssocID="{B398CABB-4E51-4F43-8A7C-566CB02CB6C7}" presName="textRect" presStyleLbl="revTx" presStyleIdx="3" presStyleCnt="4">
        <dgm:presLayoutVars>
          <dgm:chMax val="1"/>
          <dgm:chPref val="1"/>
        </dgm:presLayoutVars>
      </dgm:prSet>
      <dgm:spPr/>
    </dgm:pt>
  </dgm:ptLst>
  <dgm:cxnLst>
    <dgm:cxn modelId="{A4C03113-04D2-43A7-A45D-A7DAE27E1108}" type="presOf" srcId="{1DD208E2-DCC3-4ED7-8527-F483A195178B}" destId="{C5FF2DA9-245D-4FF9-83C9-3432B5E12A77}" srcOrd="0" destOrd="0" presId="urn:microsoft.com/office/officeart/2018/5/layout/IconCircleLabelList"/>
    <dgm:cxn modelId="{6CC29E14-A262-469A-8B96-244201D66ACC}" type="presOf" srcId="{B398CABB-4E51-4F43-8A7C-566CB02CB6C7}" destId="{3E9CD62D-09BD-4086-8836-7A19062AF15F}" srcOrd="0" destOrd="0" presId="urn:microsoft.com/office/officeart/2018/5/layout/IconCircleLabelList"/>
    <dgm:cxn modelId="{13425521-C03C-4327-986D-48D97A52052B}" srcId="{1DD208E2-DCC3-4ED7-8527-F483A195178B}" destId="{B398CABB-4E51-4F43-8A7C-566CB02CB6C7}" srcOrd="3" destOrd="0" parTransId="{3E1D9153-1A7A-4C3E-9003-F9FAD6483824}" sibTransId="{60119EE1-DF93-41F1-94DF-969FB817619F}"/>
    <dgm:cxn modelId="{5A471435-6290-41B0-B0CC-39B08A410CCB}" type="presOf" srcId="{95D5BFA2-8B1C-4740-B988-CCFCC535DB4A}" destId="{98E70558-762D-497A-BEF1-D06044C35015}" srcOrd="0" destOrd="0" presId="urn:microsoft.com/office/officeart/2018/5/layout/IconCircleLabelList"/>
    <dgm:cxn modelId="{C641297C-140B-4758-A6CF-1E52A8643458}" srcId="{1DD208E2-DCC3-4ED7-8527-F483A195178B}" destId="{01D70F88-D40E-4D57-B3C0-2795170023F1}" srcOrd="0" destOrd="0" parTransId="{C9C1D00E-A157-4F9A-9428-FD6DC4832209}" sibTransId="{04B5D7A3-896F-48E5-A4BA-D1E51860A18B}"/>
    <dgm:cxn modelId="{0EAC2CB6-D108-40EF-97F4-0DC515053C2B}" srcId="{1DD208E2-DCC3-4ED7-8527-F483A195178B}" destId="{9AB09FE9-8871-4011-8174-A508B470B328}" srcOrd="1" destOrd="0" parTransId="{78447A4B-5C85-4176-9B5C-EA38812A5CF8}" sibTransId="{BE7639BD-E349-489D-94A8-D38CE49BC13C}"/>
    <dgm:cxn modelId="{F6A47CCF-E16B-4B8C-BD97-DD8B66A1E90D}" type="presOf" srcId="{9AB09FE9-8871-4011-8174-A508B470B328}" destId="{6E10BAA4-26A9-49E0-9B39-2B7A942C8822}" srcOrd="0" destOrd="0" presId="urn:microsoft.com/office/officeart/2018/5/layout/IconCircleLabelList"/>
    <dgm:cxn modelId="{32746EDD-2DC5-4DFC-9125-A7B0874D69B8}" type="presOf" srcId="{01D70F88-D40E-4D57-B3C0-2795170023F1}" destId="{85EEAE4F-594D-4B4E-9AE3-3ECBE7F48920}" srcOrd="0" destOrd="0" presId="urn:microsoft.com/office/officeart/2018/5/layout/IconCircleLabelList"/>
    <dgm:cxn modelId="{CCEA9CF5-36A3-4392-8752-2EE5FA2086E2}" srcId="{1DD208E2-DCC3-4ED7-8527-F483A195178B}" destId="{95D5BFA2-8B1C-4740-B988-CCFCC535DB4A}" srcOrd="2" destOrd="0" parTransId="{AFED4426-7987-40F0-86CA-1BC65D42B9C8}" sibTransId="{4A1A68DC-F087-4F19-AA95-E4731CEFE57C}"/>
    <dgm:cxn modelId="{93FF369A-442A-4E6D-B839-2249BB915F09}" type="presParOf" srcId="{C5FF2DA9-245D-4FF9-83C9-3432B5E12A77}" destId="{05E169FC-DB2B-4E3E-AAEA-CFDB769E4172}" srcOrd="0" destOrd="0" presId="urn:microsoft.com/office/officeart/2018/5/layout/IconCircleLabelList"/>
    <dgm:cxn modelId="{F28A0890-AD15-441A-87C5-1D713DDD8601}" type="presParOf" srcId="{05E169FC-DB2B-4E3E-AAEA-CFDB769E4172}" destId="{807657F2-EFC1-44D8-AC88-347A498A1CF0}" srcOrd="0" destOrd="0" presId="urn:microsoft.com/office/officeart/2018/5/layout/IconCircleLabelList"/>
    <dgm:cxn modelId="{AD949037-9DD0-4416-A789-9CE10A3B0EFF}" type="presParOf" srcId="{05E169FC-DB2B-4E3E-AAEA-CFDB769E4172}" destId="{CF63D2A0-1A61-4EBE-A81E-50F7D98E9DC7}" srcOrd="1" destOrd="0" presId="urn:microsoft.com/office/officeart/2018/5/layout/IconCircleLabelList"/>
    <dgm:cxn modelId="{387682B3-9AFA-484F-BEE9-F6DDDF92C44A}" type="presParOf" srcId="{05E169FC-DB2B-4E3E-AAEA-CFDB769E4172}" destId="{DD540AF4-F5D4-40D6-A58E-30315794F96C}" srcOrd="2" destOrd="0" presId="urn:microsoft.com/office/officeart/2018/5/layout/IconCircleLabelList"/>
    <dgm:cxn modelId="{A4CBEFF5-91E8-4CA5-9D92-A273D620021D}" type="presParOf" srcId="{05E169FC-DB2B-4E3E-AAEA-CFDB769E4172}" destId="{85EEAE4F-594D-4B4E-9AE3-3ECBE7F48920}" srcOrd="3" destOrd="0" presId="urn:microsoft.com/office/officeart/2018/5/layout/IconCircleLabelList"/>
    <dgm:cxn modelId="{5446205B-BA94-465F-B389-37745EA232D9}" type="presParOf" srcId="{C5FF2DA9-245D-4FF9-83C9-3432B5E12A77}" destId="{8C38E5CA-C2A4-4E6C-B5A2-930A149B1B7E}" srcOrd="1" destOrd="0" presId="urn:microsoft.com/office/officeart/2018/5/layout/IconCircleLabelList"/>
    <dgm:cxn modelId="{F717AD20-0F11-488C-A244-220E1C8799FA}" type="presParOf" srcId="{C5FF2DA9-245D-4FF9-83C9-3432B5E12A77}" destId="{0D2F3A1F-F96F-41CA-9C74-2941FDF6043A}" srcOrd="2" destOrd="0" presId="urn:microsoft.com/office/officeart/2018/5/layout/IconCircleLabelList"/>
    <dgm:cxn modelId="{FDD2E6EF-DD4B-4A34-AE4E-287E50DCD0AE}" type="presParOf" srcId="{0D2F3A1F-F96F-41CA-9C74-2941FDF6043A}" destId="{9B29574F-9211-4BED-A964-B80F08388039}" srcOrd="0" destOrd="0" presId="urn:microsoft.com/office/officeart/2018/5/layout/IconCircleLabelList"/>
    <dgm:cxn modelId="{A103CAEA-09CF-4532-B3C4-7565D51DC2BD}" type="presParOf" srcId="{0D2F3A1F-F96F-41CA-9C74-2941FDF6043A}" destId="{B70AE346-B74C-464A-8CB3-B31E6C5741C0}" srcOrd="1" destOrd="0" presId="urn:microsoft.com/office/officeart/2018/5/layout/IconCircleLabelList"/>
    <dgm:cxn modelId="{F511835F-FB3E-4ED2-A3C3-1E0F7B755047}" type="presParOf" srcId="{0D2F3A1F-F96F-41CA-9C74-2941FDF6043A}" destId="{7979EE5A-CB29-4764-9A12-C8EDBB652A9E}" srcOrd="2" destOrd="0" presId="urn:microsoft.com/office/officeart/2018/5/layout/IconCircleLabelList"/>
    <dgm:cxn modelId="{9B275A3B-244D-47D0-B4CE-12E015927C9A}" type="presParOf" srcId="{0D2F3A1F-F96F-41CA-9C74-2941FDF6043A}" destId="{6E10BAA4-26A9-49E0-9B39-2B7A942C8822}" srcOrd="3" destOrd="0" presId="urn:microsoft.com/office/officeart/2018/5/layout/IconCircleLabelList"/>
    <dgm:cxn modelId="{87B0B414-DA4C-42B2-9071-F979DFE2E060}" type="presParOf" srcId="{C5FF2DA9-245D-4FF9-83C9-3432B5E12A77}" destId="{43CC8A3A-3F44-48FF-8E41-A42A23FC971B}" srcOrd="3" destOrd="0" presId="urn:microsoft.com/office/officeart/2018/5/layout/IconCircleLabelList"/>
    <dgm:cxn modelId="{7472BB85-EB32-4282-94F6-BBB9D85415AE}" type="presParOf" srcId="{C5FF2DA9-245D-4FF9-83C9-3432B5E12A77}" destId="{A1EDF185-BC28-4EA4-8721-6B2CAD73744F}" srcOrd="4" destOrd="0" presId="urn:microsoft.com/office/officeart/2018/5/layout/IconCircleLabelList"/>
    <dgm:cxn modelId="{C3ACFF47-75BF-460F-B48C-BD3143AA57F1}" type="presParOf" srcId="{A1EDF185-BC28-4EA4-8721-6B2CAD73744F}" destId="{6760779C-0DB8-4CEA-9F9B-BF5BB7B59C3A}" srcOrd="0" destOrd="0" presId="urn:microsoft.com/office/officeart/2018/5/layout/IconCircleLabelList"/>
    <dgm:cxn modelId="{E9FCC950-F95C-4975-B963-8F9FD3E12913}" type="presParOf" srcId="{A1EDF185-BC28-4EA4-8721-6B2CAD73744F}" destId="{BB418DE4-4713-4D24-AFDB-A09EE43467EA}" srcOrd="1" destOrd="0" presId="urn:microsoft.com/office/officeart/2018/5/layout/IconCircleLabelList"/>
    <dgm:cxn modelId="{EEB2B531-173F-419A-A411-4955DC2C50EA}" type="presParOf" srcId="{A1EDF185-BC28-4EA4-8721-6B2CAD73744F}" destId="{F91CE880-FA3F-423A-802C-1C4F42928FB6}" srcOrd="2" destOrd="0" presId="urn:microsoft.com/office/officeart/2018/5/layout/IconCircleLabelList"/>
    <dgm:cxn modelId="{B7033D0D-B5C7-4F18-9535-D87A7773578E}" type="presParOf" srcId="{A1EDF185-BC28-4EA4-8721-6B2CAD73744F}" destId="{98E70558-762D-497A-BEF1-D06044C35015}" srcOrd="3" destOrd="0" presId="urn:microsoft.com/office/officeart/2018/5/layout/IconCircleLabelList"/>
    <dgm:cxn modelId="{1F75699E-5148-4A1C-91AB-9EE4C9B41A7F}" type="presParOf" srcId="{C5FF2DA9-245D-4FF9-83C9-3432B5E12A77}" destId="{68A63AE9-290B-44C3-8DA5-AB992D660AD0}" srcOrd="5" destOrd="0" presId="urn:microsoft.com/office/officeart/2018/5/layout/IconCircleLabelList"/>
    <dgm:cxn modelId="{B32958F4-FB81-4501-9E9C-FDB16B60DAA7}" type="presParOf" srcId="{C5FF2DA9-245D-4FF9-83C9-3432B5E12A77}" destId="{F0FDAF41-1188-4DDF-90D1-0BF35E053A8B}" srcOrd="6" destOrd="0" presId="urn:microsoft.com/office/officeart/2018/5/layout/IconCircleLabelList"/>
    <dgm:cxn modelId="{89B2D459-6CC2-417A-AFE3-16E6A85EF483}" type="presParOf" srcId="{F0FDAF41-1188-4DDF-90D1-0BF35E053A8B}" destId="{AB847F8A-1A48-4763-94D7-5FAA1DD30120}" srcOrd="0" destOrd="0" presId="urn:microsoft.com/office/officeart/2018/5/layout/IconCircleLabelList"/>
    <dgm:cxn modelId="{37FDEE1E-3499-4F3C-A553-4B8670A035D3}" type="presParOf" srcId="{F0FDAF41-1188-4DDF-90D1-0BF35E053A8B}" destId="{788C6DFA-2797-4CB0-BDFD-2FC33E6109F4}" srcOrd="1" destOrd="0" presId="urn:microsoft.com/office/officeart/2018/5/layout/IconCircleLabelList"/>
    <dgm:cxn modelId="{CEA323AD-782F-4AF5-B523-DEA5603F3E09}" type="presParOf" srcId="{F0FDAF41-1188-4DDF-90D1-0BF35E053A8B}" destId="{4995AA87-5AFB-4526-AB0A-B0A63CADCB56}" srcOrd="2" destOrd="0" presId="urn:microsoft.com/office/officeart/2018/5/layout/IconCircleLabelList"/>
    <dgm:cxn modelId="{B2C1C026-8525-40FE-95B4-171BC3F0354A}" type="presParOf" srcId="{F0FDAF41-1188-4DDF-90D1-0BF35E053A8B}" destId="{3E9CD62D-09BD-4086-8836-7A19062AF15F}" srcOrd="3" destOrd="0" presId="urn:microsoft.com/office/officeart/2018/5/layout/IconCircle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FF86D0E-E769-4A56-9AFC-E9E518988C5A}">
      <dsp:nvSpPr>
        <dsp:cNvPr id="0" name=""/>
        <dsp:cNvSpPr/>
      </dsp:nvSpPr>
      <dsp:spPr>
        <a:xfrm>
          <a:off x="0" y="648660"/>
          <a:ext cx="4971603" cy="694980"/>
        </a:xfrm>
        <a:prstGeom prst="round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tint val="96000"/>
                <a:lumMod val="100000"/>
              </a:schemeClr>
            </a:gs>
            <a:gs pos="78000">
              <a:schemeClr val="accent2">
                <a:hueOff val="0"/>
                <a:satOff val="0"/>
                <a:lumOff val="0"/>
                <a:alphaOff val="0"/>
                <a:shade val="94000"/>
                <a:lumMod val="94000"/>
              </a:schemeClr>
            </a:gs>
          </a:gsLst>
          <a:lin ang="5400000" scaled="0"/>
        </a:gradFill>
        <a:ln>
          <a:noFill/>
        </a:ln>
        <a:effectLst>
          <a:outerShdw blurRad="38100" dist="254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800" kern="1200" dirty="0"/>
            <a:t>Para comparar la distribución de una variable entre diferentes grupos o categorías.</a:t>
          </a:r>
          <a:endParaRPr lang="en-US" sz="1800" kern="1200" dirty="0"/>
        </a:p>
      </dsp:txBody>
      <dsp:txXfrm>
        <a:off x="33926" y="682586"/>
        <a:ext cx="4903751" cy="627128"/>
      </dsp:txXfrm>
    </dsp:sp>
    <dsp:sp modelId="{1929D940-5B9A-493A-BBD8-93A4658F1752}">
      <dsp:nvSpPr>
        <dsp:cNvPr id="0" name=""/>
        <dsp:cNvSpPr/>
      </dsp:nvSpPr>
      <dsp:spPr>
        <a:xfrm>
          <a:off x="0" y="1395480"/>
          <a:ext cx="4971603" cy="694980"/>
        </a:xfrm>
        <a:prstGeom prst="roundRect">
          <a:avLst/>
        </a:prstGeom>
        <a:gradFill rotWithShape="0">
          <a:gsLst>
            <a:gs pos="0">
              <a:schemeClr val="accent2">
                <a:hueOff val="-741071"/>
                <a:satOff val="3550"/>
                <a:lumOff val="3284"/>
                <a:alphaOff val="0"/>
                <a:tint val="96000"/>
                <a:lumMod val="100000"/>
              </a:schemeClr>
            </a:gs>
            <a:gs pos="78000">
              <a:schemeClr val="accent2">
                <a:hueOff val="-741071"/>
                <a:satOff val="3550"/>
                <a:lumOff val="3284"/>
                <a:alphaOff val="0"/>
                <a:shade val="94000"/>
                <a:lumMod val="94000"/>
              </a:schemeClr>
            </a:gs>
          </a:gsLst>
          <a:lin ang="5400000" scaled="0"/>
        </a:gradFill>
        <a:ln>
          <a:noFill/>
        </a:ln>
        <a:effectLst>
          <a:outerShdw blurRad="38100" dist="254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800" kern="1200"/>
            <a:t>Para analizar la concentración de valores y ver dónde los datos son más frecuentes.</a:t>
          </a:r>
          <a:endParaRPr lang="en-US" sz="1800" kern="1200" dirty="0"/>
        </a:p>
      </dsp:txBody>
      <dsp:txXfrm>
        <a:off x="33926" y="1429406"/>
        <a:ext cx="4903751" cy="627128"/>
      </dsp:txXfrm>
    </dsp:sp>
    <dsp:sp modelId="{54267B87-44FC-4B3E-87F6-E810B60A243E}">
      <dsp:nvSpPr>
        <dsp:cNvPr id="0" name=""/>
        <dsp:cNvSpPr/>
      </dsp:nvSpPr>
      <dsp:spPr>
        <a:xfrm>
          <a:off x="0" y="2142300"/>
          <a:ext cx="4971603" cy="694980"/>
        </a:xfrm>
        <a:prstGeom prst="roundRect">
          <a:avLst/>
        </a:prstGeom>
        <a:gradFill rotWithShape="0">
          <a:gsLst>
            <a:gs pos="0">
              <a:schemeClr val="accent2">
                <a:hueOff val="-1482143"/>
                <a:satOff val="7100"/>
                <a:lumOff val="6569"/>
                <a:alphaOff val="0"/>
                <a:tint val="96000"/>
                <a:lumMod val="100000"/>
              </a:schemeClr>
            </a:gs>
            <a:gs pos="78000">
              <a:schemeClr val="accent2">
                <a:hueOff val="-1482143"/>
                <a:satOff val="7100"/>
                <a:lumOff val="6569"/>
                <a:alphaOff val="0"/>
                <a:shade val="94000"/>
                <a:lumMod val="94000"/>
              </a:schemeClr>
            </a:gs>
          </a:gsLst>
          <a:lin ang="5400000" scaled="0"/>
        </a:gradFill>
        <a:ln>
          <a:noFill/>
        </a:ln>
        <a:effectLst>
          <a:outerShdw blurRad="38100" dist="254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800" kern="1200" dirty="0"/>
            <a:t>Para identificar si los datos son simétricos o están sesgados hacia algún lado.</a:t>
          </a:r>
          <a:endParaRPr lang="en-US" sz="1800" kern="1200" dirty="0"/>
        </a:p>
      </dsp:txBody>
      <dsp:txXfrm>
        <a:off x="33926" y="2176226"/>
        <a:ext cx="4903751" cy="627128"/>
      </dsp:txXfrm>
    </dsp:sp>
    <dsp:sp modelId="{60F19A2D-5554-4D0C-8176-A375E036D979}">
      <dsp:nvSpPr>
        <dsp:cNvPr id="0" name=""/>
        <dsp:cNvSpPr/>
      </dsp:nvSpPr>
      <dsp:spPr>
        <a:xfrm>
          <a:off x="0" y="2889120"/>
          <a:ext cx="4971603" cy="694980"/>
        </a:xfrm>
        <a:prstGeom prst="roundRect">
          <a:avLst/>
        </a:prstGeom>
        <a:gradFill rotWithShape="0">
          <a:gsLst>
            <a:gs pos="0">
              <a:schemeClr val="accent2">
                <a:hueOff val="-2223214"/>
                <a:satOff val="10650"/>
                <a:lumOff val="9853"/>
                <a:alphaOff val="0"/>
                <a:tint val="96000"/>
                <a:lumMod val="100000"/>
              </a:schemeClr>
            </a:gs>
            <a:gs pos="78000">
              <a:schemeClr val="accent2">
                <a:hueOff val="-2223214"/>
                <a:satOff val="10650"/>
                <a:lumOff val="9853"/>
                <a:alphaOff val="0"/>
                <a:shade val="94000"/>
                <a:lumMod val="94000"/>
              </a:schemeClr>
            </a:gs>
          </a:gsLst>
          <a:lin ang="5400000" scaled="0"/>
        </a:gradFill>
        <a:ln>
          <a:noFill/>
        </a:ln>
        <a:effectLst>
          <a:outerShdw blurRad="38100" dist="254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800" kern="1200" dirty="0"/>
            <a:t>Permite detectar variabilidad, dispersión o la presencia de varios picos en la distribución.</a:t>
          </a:r>
          <a:endParaRPr lang="en-US" sz="1800" kern="1200" dirty="0"/>
        </a:p>
      </dsp:txBody>
      <dsp:txXfrm>
        <a:off x="33926" y="2923046"/>
        <a:ext cx="4903751" cy="627128"/>
      </dsp:txXfrm>
    </dsp:sp>
    <dsp:sp modelId="{98B04DE5-C0BF-43DE-B42D-F958059269CD}">
      <dsp:nvSpPr>
        <dsp:cNvPr id="0" name=""/>
        <dsp:cNvSpPr/>
      </dsp:nvSpPr>
      <dsp:spPr>
        <a:xfrm>
          <a:off x="0" y="3635940"/>
          <a:ext cx="4971603" cy="694980"/>
        </a:xfrm>
        <a:prstGeom prst="roundRect">
          <a:avLst/>
        </a:prstGeom>
        <a:gradFill rotWithShape="0">
          <a:gsLst>
            <a:gs pos="0">
              <a:schemeClr val="accent2">
                <a:hueOff val="-2964286"/>
                <a:satOff val="14200"/>
                <a:lumOff val="13137"/>
                <a:alphaOff val="0"/>
                <a:tint val="96000"/>
                <a:lumMod val="100000"/>
              </a:schemeClr>
            </a:gs>
            <a:gs pos="78000">
              <a:schemeClr val="accent2">
                <a:hueOff val="-2964286"/>
                <a:satOff val="14200"/>
                <a:lumOff val="13137"/>
                <a:alphaOff val="0"/>
                <a:shade val="94000"/>
                <a:lumMod val="94000"/>
              </a:schemeClr>
            </a:gs>
          </a:gsLst>
          <a:lin ang="5400000" scaled="0"/>
        </a:gradFill>
        <a:ln>
          <a:noFill/>
        </a:ln>
        <a:effectLst>
          <a:outerShdw blurRad="38100" dist="254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800" kern="1200" dirty="0"/>
            <a:t>Muy útil en análisis estadístico, exploración de datos y presentaciones comparativas.</a:t>
          </a:r>
          <a:endParaRPr lang="en-US" sz="1800" kern="1200" dirty="0"/>
        </a:p>
      </dsp:txBody>
      <dsp:txXfrm>
        <a:off x="33926" y="3669866"/>
        <a:ext cx="4903751" cy="627128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07657F2-EFC1-44D8-AC88-347A498A1CF0}">
      <dsp:nvSpPr>
        <dsp:cNvPr id="0" name=""/>
        <dsp:cNvSpPr/>
      </dsp:nvSpPr>
      <dsp:spPr>
        <a:xfrm>
          <a:off x="1056515" y="576"/>
          <a:ext cx="893197" cy="893197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F63D2A0-1A61-4EBE-A81E-50F7D98E9DC7}">
      <dsp:nvSpPr>
        <dsp:cNvPr id="0" name=""/>
        <dsp:cNvSpPr/>
      </dsp:nvSpPr>
      <dsp:spPr>
        <a:xfrm>
          <a:off x="1246868" y="190930"/>
          <a:ext cx="512490" cy="51249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5EEAE4F-594D-4B4E-9AE3-3ECBE7F48920}">
      <dsp:nvSpPr>
        <dsp:cNvPr id="0" name=""/>
        <dsp:cNvSpPr/>
      </dsp:nvSpPr>
      <dsp:spPr>
        <a:xfrm>
          <a:off x="770985" y="1171983"/>
          <a:ext cx="1464257" cy="58570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100" kern="1200" dirty="0"/>
            <a:t>Usa </a:t>
          </a:r>
          <a:r>
            <a:rPr lang="en-US" sz="1100" kern="1200" dirty="0" err="1"/>
            <a:t>pocos</a:t>
          </a:r>
          <a:r>
            <a:rPr lang="en-US" sz="1100" kern="1200" dirty="0"/>
            <a:t> </a:t>
          </a:r>
          <a:r>
            <a:rPr lang="en-US" sz="1100" kern="1200" dirty="0" err="1"/>
            <a:t>colores</a:t>
          </a:r>
          <a:r>
            <a:rPr lang="en-US" sz="1100" kern="1200" dirty="0"/>
            <a:t> y bien </a:t>
          </a:r>
          <a:r>
            <a:rPr lang="en-US" sz="1100" kern="1200" dirty="0" err="1"/>
            <a:t>contrastados</a:t>
          </a:r>
          <a:r>
            <a:rPr lang="en-US" sz="1100" kern="1200" dirty="0"/>
            <a:t>.</a:t>
          </a:r>
        </a:p>
      </dsp:txBody>
      <dsp:txXfrm>
        <a:off x="770985" y="1171983"/>
        <a:ext cx="1464257" cy="585703"/>
      </dsp:txXfrm>
    </dsp:sp>
    <dsp:sp modelId="{9B29574F-9211-4BED-A964-B80F08388039}">
      <dsp:nvSpPr>
        <dsp:cNvPr id="0" name=""/>
        <dsp:cNvSpPr/>
      </dsp:nvSpPr>
      <dsp:spPr>
        <a:xfrm>
          <a:off x="2777018" y="576"/>
          <a:ext cx="893197" cy="893197"/>
        </a:xfrm>
        <a:prstGeom prst="ellips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70AE346-B74C-464A-8CB3-B31E6C5741C0}">
      <dsp:nvSpPr>
        <dsp:cNvPr id="0" name=""/>
        <dsp:cNvSpPr/>
      </dsp:nvSpPr>
      <dsp:spPr>
        <a:xfrm>
          <a:off x="2967371" y="190930"/>
          <a:ext cx="512490" cy="51249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E10BAA4-26A9-49E0-9B39-2B7A942C8822}">
      <dsp:nvSpPr>
        <dsp:cNvPr id="0" name=""/>
        <dsp:cNvSpPr/>
      </dsp:nvSpPr>
      <dsp:spPr>
        <a:xfrm>
          <a:off x="2491488" y="1171983"/>
          <a:ext cx="1464257" cy="58570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100" kern="1200" dirty="0"/>
            <a:t> Ordena las barras de forma </a:t>
          </a:r>
          <a:r>
            <a:rPr lang="en-US" sz="1100" kern="1200" dirty="0" err="1"/>
            <a:t>lógica</a:t>
          </a:r>
          <a:r>
            <a:rPr lang="en-US" sz="1100" kern="1200" dirty="0"/>
            <a:t> (</a:t>
          </a:r>
          <a:r>
            <a:rPr lang="en-US" sz="1100" kern="1200" dirty="0" err="1"/>
            <a:t>por</a:t>
          </a:r>
          <a:r>
            <a:rPr lang="en-US" sz="1100" kern="1200" dirty="0"/>
            <a:t> total o </a:t>
          </a:r>
          <a:r>
            <a:rPr lang="en-US" sz="1100" kern="1200" dirty="0" err="1"/>
            <a:t>alfabéticamente</a:t>
          </a:r>
          <a:r>
            <a:rPr lang="en-US" sz="1100" kern="1200" dirty="0"/>
            <a:t>).</a:t>
          </a:r>
        </a:p>
      </dsp:txBody>
      <dsp:txXfrm>
        <a:off x="2491488" y="1171983"/>
        <a:ext cx="1464257" cy="585703"/>
      </dsp:txXfrm>
    </dsp:sp>
    <dsp:sp modelId="{6760779C-0DB8-4CEA-9F9B-BF5BB7B59C3A}">
      <dsp:nvSpPr>
        <dsp:cNvPr id="0" name=""/>
        <dsp:cNvSpPr/>
      </dsp:nvSpPr>
      <dsp:spPr>
        <a:xfrm>
          <a:off x="4497521" y="576"/>
          <a:ext cx="893197" cy="893197"/>
        </a:xfrm>
        <a:prstGeom prst="ellips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B418DE4-4713-4D24-AFDB-A09EE43467EA}">
      <dsp:nvSpPr>
        <dsp:cNvPr id="0" name=""/>
        <dsp:cNvSpPr/>
      </dsp:nvSpPr>
      <dsp:spPr>
        <a:xfrm>
          <a:off x="4687874" y="190930"/>
          <a:ext cx="512490" cy="512490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8E70558-762D-497A-BEF1-D06044C35015}">
      <dsp:nvSpPr>
        <dsp:cNvPr id="0" name=""/>
        <dsp:cNvSpPr/>
      </dsp:nvSpPr>
      <dsp:spPr>
        <a:xfrm>
          <a:off x="4211991" y="1171983"/>
          <a:ext cx="1464257" cy="58570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100" kern="1200" dirty="0" err="1"/>
            <a:t>Mantén</a:t>
          </a:r>
          <a:r>
            <a:rPr lang="en-US" sz="1100" kern="1200" dirty="0"/>
            <a:t> </a:t>
          </a:r>
          <a:r>
            <a:rPr lang="en-US" sz="1100" kern="1200" dirty="0" err="1"/>
            <a:t>consistencia</a:t>
          </a:r>
          <a:r>
            <a:rPr lang="en-US" sz="1100" kern="1200" dirty="0"/>
            <a:t> </a:t>
          </a:r>
          <a:r>
            <a:rPr lang="en-US" sz="1100" kern="1200" dirty="0" err="1"/>
            <a:t>en</a:t>
          </a:r>
          <a:r>
            <a:rPr lang="en-US" sz="1100" kern="1200" dirty="0"/>
            <a:t> </a:t>
          </a:r>
          <a:r>
            <a:rPr lang="en-US" sz="1100" kern="1200" dirty="0" err="1"/>
            <a:t>los</a:t>
          </a:r>
          <a:r>
            <a:rPr lang="en-US" sz="1100" kern="1200" dirty="0"/>
            <a:t> </a:t>
          </a:r>
          <a:r>
            <a:rPr lang="en-US" sz="1100" kern="1200" dirty="0" err="1"/>
            <a:t>colores</a:t>
          </a:r>
          <a:r>
            <a:rPr lang="en-US" sz="1100" kern="1200" dirty="0"/>
            <a:t> de </a:t>
          </a:r>
          <a:r>
            <a:rPr lang="en-US" sz="1100" kern="1200" dirty="0" err="1"/>
            <a:t>cada</a:t>
          </a:r>
          <a:r>
            <a:rPr lang="en-US" sz="1100" kern="1200" dirty="0"/>
            <a:t> </a:t>
          </a:r>
          <a:r>
            <a:rPr lang="en-US" sz="1100" kern="1200" dirty="0" err="1"/>
            <a:t>subcategoría</a:t>
          </a:r>
          <a:r>
            <a:rPr lang="en-US" sz="1100" kern="1200" dirty="0"/>
            <a:t>.</a:t>
          </a:r>
        </a:p>
      </dsp:txBody>
      <dsp:txXfrm>
        <a:off x="4211991" y="1171983"/>
        <a:ext cx="1464257" cy="585703"/>
      </dsp:txXfrm>
    </dsp:sp>
    <dsp:sp modelId="{AB847F8A-1A48-4763-94D7-5FAA1DD30120}">
      <dsp:nvSpPr>
        <dsp:cNvPr id="0" name=""/>
        <dsp:cNvSpPr/>
      </dsp:nvSpPr>
      <dsp:spPr>
        <a:xfrm>
          <a:off x="2777018" y="2123750"/>
          <a:ext cx="893197" cy="893197"/>
        </a:xfrm>
        <a:prstGeom prst="ellipse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88C6DFA-2797-4CB0-BDFD-2FC33E6109F4}">
      <dsp:nvSpPr>
        <dsp:cNvPr id="0" name=""/>
        <dsp:cNvSpPr/>
      </dsp:nvSpPr>
      <dsp:spPr>
        <a:xfrm>
          <a:off x="2967371" y="2314104"/>
          <a:ext cx="512490" cy="512490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E9CD62D-09BD-4086-8836-7A19062AF15F}">
      <dsp:nvSpPr>
        <dsp:cNvPr id="0" name=""/>
        <dsp:cNvSpPr/>
      </dsp:nvSpPr>
      <dsp:spPr>
        <a:xfrm>
          <a:off x="2491488" y="3295156"/>
          <a:ext cx="1464257" cy="58570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100" kern="1200" dirty="0" err="1"/>
            <a:t>Añade</a:t>
          </a:r>
          <a:r>
            <a:rPr lang="en-US" sz="1100" kern="1200" dirty="0"/>
            <a:t> </a:t>
          </a:r>
          <a:r>
            <a:rPr lang="en-US" sz="1100" kern="1200" dirty="0" err="1"/>
            <a:t>etiquetas</a:t>
          </a:r>
          <a:r>
            <a:rPr lang="en-US" sz="1100" kern="1200" dirty="0"/>
            <a:t> o </a:t>
          </a:r>
          <a:r>
            <a:rPr lang="en-US" sz="1100" kern="1200" dirty="0" err="1"/>
            <a:t>totales</a:t>
          </a:r>
          <a:r>
            <a:rPr lang="en-US" sz="1100" kern="1200" dirty="0"/>
            <a:t> </a:t>
          </a:r>
          <a:r>
            <a:rPr lang="en-US" sz="1100" kern="1200" dirty="0" err="1"/>
            <a:t>cuando</a:t>
          </a:r>
          <a:r>
            <a:rPr lang="en-US" sz="1100" kern="1200" dirty="0"/>
            <a:t> sea </a:t>
          </a:r>
          <a:r>
            <a:rPr lang="en-US" sz="1100" kern="1200" dirty="0" err="1"/>
            <a:t>relevante</a:t>
          </a:r>
          <a:r>
            <a:rPr lang="en-US" sz="1100" kern="1200" dirty="0"/>
            <a:t>.</a:t>
          </a:r>
        </a:p>
      </dsp:txBody>
      <dsp:txXfrm>
        <a:off x="2491488" y="3295156"/>
        <a:ext cx="1464257" cy="585703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8/5/layout/IconCircleLabelList">
  <dgm:title val="Icon Circle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ellipse" r:blip="">
            <dgm:adjLst/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8466" y="-8468"/>
            <a:ext cx="9169804" cy="6874935"/>
            <a:chOff x="-8466" y="-8468"/>
            <a:chExt cx="9169804" cy="6874935"/>
          </a:xfrm>
        </p:grpSpPr>
        <p:cxnSp>
          <p:nvCxnSpPr>
            <p:cNvPr id="17" name="Straight Connector 16"/>
            <p:cNvCxnSpPr/>
            <p:nvPr/>
          </p:nvCxnSpPr>
          <p:spPr>
            <a:xfrm flipV="1">
              <a:off x="5130830" y="4175605"/>
              <a:ext cx="4022475" cy="2682396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/>
            <p:cNvCxnSpPr/>
            <p:nvPr/>
          </p:nvCxnSpPr>
          <p:spPr>
            <a:xfrm>
              <a:off x="7042707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9" name="Freeform 18"/>
            <p:cNvSpPr/>
            <p:nvPr/>
          </p:nvSpPr>
          <p:spPr>
            <a:xfrm>
              <a:off x="6891896" y="1"/>
              <a:ext cx="2269442" cy="6866466"/>
            </a:xfrm>
            <a:custGeom>
              <a:avLst/>
              <a:gdLst/>
              <a:ahLst/>
              <a:cxnLst/>
              <a:rect l="l" t="t" r="r" b="b"/>
              <a:pathLst>
                <a:path w="2269442" h="6866466">
                  <a:moveTo>
                    <a:pt x="2023534" y="0"/>
                  </a:moveTo>
                  <a:lnTo>
                    <a:pt x="0" y="6858000"/>
                  </a:lnTo>
                  <a:lnTo>
                    <a:pt x="2269067" y="6866466"/>
                  </a:lnTo>
                  <a:cubicBezTo>
                    <a:pt x="2271889" y="4580466"/>
                    <a:pt x="2257778" y="2294466"/>
                    <a:pt x="2260600" y="8466"/>
                  </a:cubicBezTo>
                  <a:lnTo>
                    <a:pt x="2023534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s-ES"/>
            </a:p>
          </p:txBody>
        </p:sp>
        <p:sp>
          <p:nvSpPr>
            <p:cNvPr id="20" name="Freeform 19"/>
            <p:cNvSpPr/>
            <p:nvPr/>
          </p:nvSpPr>
          <p:spPr>
            <a:xfrm>
              <a:off x="7205158" y="-8467"/>
              <a:ext cx="1948147" cy="6866467"/>
            </a:xfrm>
            <a:custGeom>
              <a:avLst/>
              <a:gdLst/>
              <a:ahLst/>
              <a:cxnLst/>
              <a:rect l="l" t="t" r="r" b="b"/>
              <a:pathLst>
                <a:path w="1948147" h="6866467">
                  <a:moveTo>
                    <a:pt x="0" y="0"/>
                  </a:moveTo>
                  <a:lnTo>
                    <a:pt x="1202267" y="6866467"/>
                  </a:lnTo>
                  <a:lnTo>
                    <a:pt x="1947333" y="6866467"/>
                  </a:lnTo>
                  <a:cubicBezTo>
                    <a:pt x="1944511" y="4577645"/>
                    <a:pt x="1950155" y="2288822"/>
                    <a:pt x="1947333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s-ES"/>
            </a:p>
          </p:txBody>
        </p:sp>
        <p:sp>
          <p:nvSpPr>
            <p:cNvPr id="21" name="Freeform 20"/>
            <p:cNvSpPr/>
            <p:nvPr/>
          </p:nvSpPr>
          <p:spPr>
            <a:xfrm>
              <a:off x="6637896" y="3920066"/>
              <a:ext cx="2513565" cy="2937933"/>
            </a:xfrm>
            <a:custGeom>
              <a:avLst/>
              <a:gdLst/>
              <a:ahLst/>
              <a:cxnLst/>
              <a:rect l="l" t="t" r="r" b="b"/>
              <a:pathLst>
                <a:path w="3259667" h="3810000">
                  <a:moveTo>
                    <a:pt x="0" y="3810000"/>
                  </a:moveTo>
                  <a:lnTo>
                    <a:pt x="3251200" y="0"/>
                  </a:lnTo>
                  <a:cubicBezTo>
                    <a:pt x="3254022" y="1270000"/>
                    <a:pt x="3256845" y="2540000"/>
                    <a:pt x="3259667" y="3810000"/>
                  </a:cubicBezTo>
                  <a:lnTo>
                    <a:pt x="0" y="3810000"/>
                  </a:lnTo>
                  <a:close/>
                </a:path>
              </a:pathLst>
            </a:cu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s-ES"/>
            </a:p>
          </p:txBody>
        </p:sp>
        <p:sp>
          <p:nvSpPr>
            <p:cNvPr id="22" name="Freeform 21"/>
            <p:cNvSpPr/>
            <p:nvPr/>
          </p:nvSpPr>
          <p:spPr>
            <a:xfrm>
              <a:off x="7010429" y="-8467"/>
              <a:ext cx="2142876" cy="6866467"/>
            </a:xfrm>
            <a:custGeom>
              <a:avLst/>
              <a:gdLst/>
              <a:ahLst/>
              <a:cxnLst/>
              <a:rect l="l" t="t" r="r" b="b"/>
              <a:pathLst>
                <a:path w="2853267" h="6866467">
                  <a:moveTo>
                    <a:pt x="0" y="0"/>
                  </a:moveTo>
                  <a:lnTo>
                    <a:pt x="2472267" y="6866467"/>
                  </a:lnTo>
                  <a:lnTo>
                    <a:pt x="2853267" y="6858000"/>
                  </a:lnTo>
                  <a:lnTo>
                    <a:pt x="28532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s-ES"/>
            </a:p>
          </p:txBody>
        </p:sp>
        <p:sp>
          <p:nvSpPr>
            <p:cNvPr id="23" name="Freeform 22"/>
            <p:cNvSpPr/>
            <p:nvPr/>
          </p:nvSpPr>
          <p:spPr>
            <a:xfrm>
              <a:off x="8295776" y="-8467"/>
              <a:ext cx="857530" cy="6866467"/>
            </a:xfrm>
            <a:custGeom>
              <a:avLst/>
              <a:gdLst/>
              <a:ahLst/>
              <a:cxnLst/>
              <a:rect l="l" t="t" r="r" b="b"/>
              <a:pathLst>
                <a:path w="1286933" h="6866467">
                  <a:moveTo>
                    <a:pt x="1016000" y="0"/>
                  </a:moveTo>
                  <a:lnTo>
                    <a:pt x="0" y="6866467"/>
                  </a:lnTo>
                  <a:lnTo>
                    <a:pt x="1286933" y="6866467"/>
                  </a:lnTo>
                  <a:cubicBezTo>
                    <a:pt x="1284111" y="4577645"/>
                    <a:pt x="1281288" y="2288822"/>
                    <a:pt x="1278466" y="0"/>
                  </a:cubicBezTo>
                  <a:lnTo>
                    <a:pt x="1016000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s-ES"/>
            </a:p>
          </p:txBody>
        </p:sp>
        <p:sp>
          <p:nvSpPr>
            <p:cNvPr id="24" name="Freeform 23"/>
            <p:cNvSpPr/>
            <p:nvPr/>
          </p:nvSpPr>
          <p:spPr>
            <a:xfrm>
              <a:off x="8077231" y="-8468"/>
              <a:ext cx="1066770" cy="6866467"/>
            </a:xfrm>
            <a:custGeom>
              <a:avLst/>
              <a:gdLst/>
              <a:ahLst/>
              <a:cxnLst/>
              <a:rect l="l" t="t" r="r" b="b"/>
              <a:pathLst>
                <a:path w="1270244" h="6866467">
                  <a:moveTo>
                    <a:pt x="0" y="0"/>
                  </a:moveTo>
                  <a:lnTo>
                    <a:pt x="1117600" y="6866467"/>
                  </a:lnTo>
                  <a:lnTo>
                    <a:pt x="1270000" y="6866467"/>
                  </a:lnTo>
                  <a:cubicBezTo>
                    <a:pt x="1272822" y="4574822"/>
                    <a:pt x="1250245" y="2291645"/>
                    <a:pt x="1253067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s-ES"/>
            </a:p>
          </p:txBody>
        </p:sp>
        <p:sp>
          <p:nvSpPr>
            <p:cNvPr id="25" name="Freeform 24"/>
            <p:cNvSpPr/>
            <p:nvPr/>
          </p:nvSpPr>
          <p:spPr>
            <a:xfrm>
              <a:off x="8060297" y="4893733"/>
              <a:ext cx="1094086" cy="1964267"/>
            </a:xfrm>
            <a:custGeom>
              <a:avLst/>
              <a:gdLst/>
              <a:ahLst/>
              <a:cxnLst/>
              <a:rect l="l" t="t" r="r" b="b"/>
              <a:pathLst>
                <a:path w="1820333" h="3268133">
                  <a:moveTo>
                    <a:pt x="0" y="3268133"/>
                  </a:moveTo>
                  <a:lnTo>
                    <a:pt x="1811866" y="0"/>
                  </a:lnTo>
                  <a:cubicBezTo>
                    <a:pt x="1814688" y="1086555"/>
                    <a:pt x="1817511" y="2173111"/>
                    <a:pt x="1820333" y="3259666"/>
                  </a:cubicBezTo>
                  <a:lnTo>
                    <a:pt x="0" y="3268133"/>
                  </a:lnTo>
                  <a:close/>
                </a:path>
              </a:pathLst>
            </a:cu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s-ES"/>
            </a:p>
          </p:txBody>
        </p:sp>
        <p:sp>
          <p:nvSpPr>
            <p:cNvPr id="28" name="Freeform 27"/>
            <p:cNvSpPr/>
            <p:nvPr/>
          </p:nvSpPr>
          <p:spPr>
            <a:xfrm>
              <a:off x="-8466" y="-8468"/>
              <a:ext cx="863600" cy="5698067"/>
            </a:xfrm>
            <a:custGeom>
              <a:avLst/>
              <a:gdLst/>
              <a:ahLst/>
              <a:cxnLst/>
              <a:rect l="l" t="t" r="r" b="b"/>
              <a:pathLst>
                <a:path w="863600" h="5698067">
                  <a:moveTo>
                    <a:pt x="0" y="8467"/>
                  </a:moveTo>
                  <a:lnTo>
                    <a:pt x="863600" y="0"/>
                  </a:lnTo>
                  <a:lnTo>
                    <a:pt x="863600" y="16934"/>
                  </a:lnTo>
                  <a:lnTo>
                    <a:pt x="0" y="5698067"/>
                  </a:lnTo>
                  <a:lnTo>
                    <a:pt x="0" y="8467"/>
                  </a:lnTo>
                  <a:close/>
                </a:path>
              </a:pathLst>
            </a:cu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s-ES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30595" y="2404534"/>
            <a:ext cx="5826719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30595" y="4050834"/>
            <a:ext cx="5826719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"/>
              <a:t>Haga clic para modificar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64680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47333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8" y="2700868"/>
            <a:ext cx="6347715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468505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609600"/>
            <a:ext cx="6347714" cy="1320800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2160589"/>
            <a:ext cx="3088109" cy="3880772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869204" y="2160590"/>
            <a:ext cx="3088110" cy="388077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32813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609600"/>
            <a:ext cx="6347713" cy="1320800"/>
          </a:xfrm>
        </p:spPr>
        <p:txBody>
          <a:bodyPr/>
          <a:lstStyle>
            <a:lvl1pPr>
              <a:defRPr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9" y="2160983"/>
            <a:ext cx="309067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599" y="2737246"/>
            <a:ext cx="3090672" cy="3304117"/>
          </a:xfrm>
        </p:spPr>
        <p:txBody>
          <a:bodyPr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66640" y="2160983"/>
            <a:ext cx="309067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866640" y="2737246"/>
            <a:ext cx="3090672" cy="3304117"/>
          </a:xfrm>
        </p:spPr>
        <p:txBody>
          <a:bodyPr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726945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609600"/>
            <a:ext cx="6347714" cy="1320800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605568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069698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1498604"/>
            <a:ext cx="2790182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1275" y="514925"/>
            <a:ext cx="3386037" cy="5526437"/>
          </a:xfrm>
        </p:spPr>
        <p:txBody>
          <a:bodyPr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599" y="2777069"/>
            <a:ext cx="2790182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83713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4800600"/>
            <a:ext cx="6347714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09599" y="609600"/>
            <a:ext cx="6347714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599" y="5367338"/>
            <a:ext cx="6347714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982133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ítulo y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609600"/>
            <a:ext cx="6347714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4470400"/>
            <a:ext cx="6347714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338909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 con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4885" y="609600"/>
            <a:ext cx="6072182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101074" y="3632200"/>
            <a:ext cx="541980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470400"/>
            <a:ext cx="6347715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482711" y="790378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47699" y="2886556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21656477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arjeta de nomb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8" y="1931988"/>
            <a:ext cx="6347715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965111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r la tarjeta de nomb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4885" y="609600"/>
            <a:ext cx="6072182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09597" y="4013200"/>
            <a:ext cx="6347716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482711" y="790378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47699" y="2886556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83230469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Verdadero o fals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5848" y="609600"/>
            <a:ext cx="6341465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09597" y="4013200"/>
            <a:ext cx="6347716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896315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804386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5977312" y="609600"/>
            <a:ext cx="978812" cy="5251451"/>
          </a:xfrm>
        </p:spPr>
        <p:txBody>
          <a:bodyPr vert="eaVert" anchor="ctr"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599" y="609600"/>
            <a:ext cx="5195026" cy="5251451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519792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Group 16"/>
          <p:cNvGrpSpPr/>
          <p:nvPr/>
        </p:nvGrpSpPr>
        <p:grpSpPr>
          <a:xfrm>
            <a:off x="-8467" y="-8468"/>
            <a:ext cx="9169805" cy="6874935"/>
            <a:chOff x="-8467" y="-8468"/>
            <a:chExt cx="9169805" cy="6874935"/>
          </a:xfrm>
        </p:grpSpPr>
        <p:sp>
          <p:nvSpPr>
            <p:cNvPr id="7" name="Freeform 6"/>
            <p:cNvSpPr/>
            <p:nvPr/>
          </p:nvSpPr>
          <p:spPr>
            <a:xfrm>
              <a:off x="-8467" y="4013200"/>
              <a:ext cx="457200" cy="2853267"/>
            </a:xfrm>
            <a:custGeom>
              <a:avLst/>
              <a:gdLst/>
              <a:ahLst/>
              <a:cxnLst/>
              <a:rect l="l" t="t" r="r" b="b"/>
              <a:pathLst>
                <a:path w="457200" h="2853267">
                  <a:moveTo>
                    <a:pt x="0" y="0"/>
                  </a:moveTo>
                  <a:lnTo>
                    <a:pt x="457200" y="2853267"/>
                  </a:lnTo>
                  <a:lnTo>
                    <a:pt x="0" y="2844800"/>
                  </a:lnTo>
                  <a:cubicBezTo>
                    <a:pt x="2822" y="1905000"/>
                    <a:pt x="5645" y="965200"/>
                    <a:pt x="0" y="0"/>
                  </a:cubicBezTo>
                  <a:close/>
                </a:path>
              </a:pathLst>
            </a:cu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s-ES"/>
            </a:p>
          </p:txBody>
        </p:sp>
        <p:cxnSp>
          <p:nvCxnSpPr>
            <p:cNvPr id="8" name="Straight Connector 7"/>
            <p:cNvCxnSpPr/>
            <p:nvPr/>
          </p:nvCxnSpPr>
          <p:spPr>
            <a:xfrm flipV="1">
              <a:off x="5130830" y="4175605"/>
              <a:ext cx="4022475" cy="2682396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/>
            <p:cNvCxnSpPr/>
            <p:nvPr/>
          </p:nvCxnSpPr>
          <p:spPr>
            <a:xfrm>
              <a:off x="7042707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Freeform 9"/>
            <p:cNvSpPr/>
            <p:nvPr/>
          </p:nvSpPr>
          <p:spPr>
            <a:xfrm>
              <a:off x="6891896" y="1"/>
              <a:ext cx="2269442" cy="6866466"/>
            </a:xfrm>
            <a:custGeom>
              <a:avLst/>
              <a:gdLst/>
              <a:ahLst/>
              <a:cxnLst/>
              <a:rect l="l" t="t" r="r" b="b"/>
              <a:pathLst>
                <a:path w="2269442" h="6866466">
                  <a:moveTo>
                    <a:pt x="2023534" y="0"/>
                  </a:moveTo>
                  <a:lnTo>
                    <a:pt x="0" y="6858000"/>
                  </a:lnTo>
                  <a:lnTo>
                    <a:pt x="2269067" y="6866466"/>
                  </a:lnTo>
                  <a:cubicBezTo>
                    <a:pt x="2271889" y="4580466"/>
                    <a:pt x="2257778" y="2294466"/>
                    <a:pt x="2260600" y="8466"/>
                  </a:cubicBezTo>
                  <a:lnTo>
                    <a:pt x="2023534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s-ES"/>
            </a:p>
          </p:txBody>
        </p:sp>
        <p:sp>
          <p:nvSpPr>
            <p:cNvPr id="11" name="Freeform 10"/>
            <p:cNvSpPr/>
            <p:nvPr/>
          </p:nvSpPr>
          <p:spPr>
            <a:xfrm>
              <a:off x="7205158" y="-8467"/>
              <a:ext cx="1948147" cy="6866467"/>
            </a:xfrm>
            <a:custGeom>
              <a:avLst/>
              <a:gdLst/>
              <a:ahLst/>
              <a:cxnLst/>
              <a:rect l="l" t="t" r="r" b="b"/>
              <a:pathLst>
                <a:path w="1948147" h="6866467">
                  <a:moveTo>
                    <a:pt x="0" y="0"/>
                  </a:moveTo>
                  <a:lnTo>
                    <a:pt x="1202267" y="6866467"/>
                  </a:lnTo>
                  <a:lnTo>
                    <a:pt x="1947333" y="6866467"/>
                  </a:lnTo>
                  <a:cubicBezTo>
                    <a:pt x="1944511" y="4577645"/>
                    <a:pt x="1950155" y="2288822"/>
                    <a:pt x="1947333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s-ES"/>
            </a:p>
          </p:txBody>
        </p:sp>
        <p:sp>
          <p:nvSpPr>
            <p:cNvPr id="12" name="Freeform 11"/>
            <p:cNvSpPr/>
            <p:nvPr/>
          </p:nvSpPr>
          <p:spPr>
            <a:xfrm>
              <a:off x="6637896" y="3920066"/>
              <a:ext cx="2513565" cy="2937933"/>
            </a:xfrm>
            <a:custGeom>
              <a:avLst/>
              <a:gdLst/>
              <a:ahLst/>
              <a:cxnLst/>
              <a:rect l="l" t="t" r="r" b="b"/>
              <a:pathLst>
                <a:path w="3259667" h="3810000">
                  <a:moveTo>
                    <a:pt x="0" y="3810000"/>
                  </a:moveTo>
                  <a:lnTo>
                    <a:pt x="3251200" y="0"/>
                  </a:lnTo>
                  <a:cubicBezTo>
                    <a:pt x="3254022" y="1270000"/>
                    <a:pt x="3256845" y="2540000"/>
                    <a:pt x="3259667" y="3810000"/>
                  </a:cubicBezTo>
                  <a:lnTo>
                    <a:pt x="0" y="3810000"/>
                  </a:lnTo>
                  <a:close/>
                </a:path>
              </a:pathLst>
            </a:cu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s-ES"/>
            </a:p>
          </p:txBody>
        </p:sp>
        <p:sp>
          <p:nvSpPr>
            <p:cNvPr id="13" name="Freeform 12"/>
            <p:cNvSpPr/>
            <p:nvPr/>
          </p:nvSpPr>
          <p:spPr>
            <a:xfrm>
              <a:off x="7010429" y="-8467"/>
              <a:ext cx="2142876" cy="6866467"/>
            </a:xfrm>
            <a:custGeom>
              <a:avLst/>
              <a:gdLst/>
              <a:ahLst/>
              <a:cxnLst/>
              <a:rect l="l" t="t" r="r" b="b"/>
              <a:pathLst>
                <a:path w="2853267" h="6866467">
                  <a:moveTo>
                    <a:pt x="0" y="0"/>
                  </a:moveTo>
                  <a:lnTo>
                    <a:pt x="2472267" y="6866467"/>
                  </a:lnTo>
                  <a:lnTo>
                    <a:pt x="2853267" y="6858000"/>
                  </a:lnTo>
                  <a:lnTo>
                    <a:pt x="28532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s-ES"/>
            </a:p>
          </p:txBody>
        </p:sp>
        <p:sp>
          <p:nvSpPr>
            <p:cNvPr id="14" name="Freeform 13"/>
            <p:cNvSpPr/>
            <p:nvPr/>
          </p:nvSpPr>
          <p:spPr>
            <a:xfrm>
              <a:off x="8295776" y="-8467"/>
              <a:ext cx="857530" cy="6866467"/>
            </a:xfrm>
            <a:custGeom>
              <a:avLst/>
              <a:gdLst/>
              <a:ahLst/>
              <a:cxnLst/>
              <a:rect l="l" t="t" r="r" b="b"/>
              <a:pathLst>
                <a:path w="1286933" h="6866467">
                  <a:moveTo>
                    <a:pt x="1016000" y="0"/>
                  </a:moveTo>
                  <a:lnTo>
                    <a:pt x="0" y="6866467"/>
                  </a:lnTo>
                  <a:lnTo>
                    <a:pt x="1286933" y="6866467"/>
                  </a:lnTo>
                  <a:cubicBezTo>
                    <a:pt x="1284111" y="4577645"/>
                    <a:pt x="1281288" y="2288822"/>
                    <a:pt x="1278466" y="0"/>
                  </a:cubicBezTo>
                  <a:lnTo>
                    <a:pt x="1016000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s-ES"/>
            </a:p>
          </p:txBody>
        </p:sp>
        <p:sp>
          <p:nvSpPr>
            <p:cNvPr id="15" name="Freeform 14"/>
            <p:cNvSpPr/>
            <p:nvPr/>
          </p:nvSpPr>
          <p:spPr>
            <a:xfrm>
              <a:off x="8077231" y="-8468"/>
              <a:ext cx="1066770" cy="6866467"/>
            </a:xfrm>
            <a:custGeom>
              <a:avLst/>
              <a:gdLst/>
              <a:ahLst/>
              <a:cxnLst/>
              <a:rect l="l" t="t" r="r" b="b"/>
              <a:pathLst>
                <a:path w="1270244" h="6866467">
                  <a:moveTo>
                    <a:pt x="0" y="0"/>
                  </a:moveTo>
                  <a:lnTo>
                    <a:pt x="1117600" y="6866467"/>
                  </a:lnTo>
                  <a:lnTo>
                    <a:pt x="1270000" y="6866467"/>
                  </a:lnTo>
                  <a:cubicBezTo>
                    <a:pt x="1272822" y="4574822"/>
                    <a:pt x="1250245" y="2291645"/>
                    <a:pt x="1253067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s-ES"/>
            </a:p>
          </p:txBody>
        </p:sp>
        <p:sp>
          <p:nvSpPr>
            <p:cNvPr id="16" name="Freeform 15"/>
            <p:cNvSpPr/>
            <p:nvPr/>
          </p:nvSpPr>
          <p:spPr>
            <a:xfrm>
              <a:off x="8060297" y="4893733"/>
              <a:ext cx="1094086" cy="1964267"/>
            </a:xfrm>
            <a:custGeom>
              <a:avLst/>
              <a:gdLst/>
              <a:ahLst/>
              <a:cxnLst/>
              <a:rect l="l" t="t" r="r" b="b"/>
              <a:pathLst>
                <a:path w="1820333" h="3268133">
                  <a:moveTo>
                    <a:pt x="0" y="3268133"/>
                  </a:moveTo>
                  <a:lnTo>
                    <a:pt x="1811866" y="0"/>
                  </a:lnTo>
                  <a:cubicBezTo>
                    <a:pt x="1814688" y="1086555"/>
                    <a:pt x="1817511" y="2173111"/>
                    <a:pt x="1820333" y="3259666"/>
                  </a:cubicBezTo>
                  <a:lnTo>
                    <a:pt x="0" y="3268133"/>
                  </a:lnTo>
                  <a:close/>
                </a:path>
              </a:pathLst>
            </a:cu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s-ES"/>
            </a:p>
          </p:txBody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599" y="609600"/>
            <a:ext cx="6347713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9" y="2160590"/>
            <a:ext cx="6347714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405258" y="6041363"/>
            <a:ext cx="68413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09599" y="6041363"/>
            <a:ext cx="462297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44676" y="6041363"/>
            <a:ext cx="51263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115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9" r:id="rId1"/>
    <p:sldLayoutId id="2147483680" r:id="rId2"/>
    <p:sldLayoutId id="2147483681" r:id="rId3"/>
    <p:sldLayoutId id="2147483682" r:id="rId4"/>
    <p:sldLayoutId id="2147483683" r:id="rId5"/>
    <p:sldLayoutId id="2147483684" r:id="rId6"/>
    <p:sldLayoutId id="2147483685" r:id="rId7"/>
    <p:sldLayoutId id="2147483686" r:id="rId8"/>
    <p:sldLayoutId id="2147483687" r:id="rId9"/>
    <p:sldLayoutId id="2147483688" r:id="rId10"/>
    <p:sldLayoutId id="2147483689" r:id="rId11"/>
    <p:sldLayoutId id="2147483690" r:id="rId12"/>
    <p:sldLayoutId id="2147483691" r:id="rId13"/>
    <p:sldLayoutId id="2147483692" r:id="rId14"/>
    <p:sldLayoutId id="2147483693" r:id="rId15"/>
    <p:sldLayoutId id="2147483694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Gráficas financieras en una pantalla oscura">
            <a:extLst>
              <a:ext uri="{FF2B5EF4-FFF2-40B4-BE49-F238E27FC236}">
                <a16:creationId xmlns:a16="http://schemas.microsoft.com/office/drawing/2014/main" id="{22C15FA6-C6B6-1FC6-EE8A-AF9907D64FA6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</a:blip>
          <a:srcRect l="16667"/>
          <a:stretch>
            <a:fillRect/>
          </a:stretch>
        </p:blipFill>
        <p:spPr>
          <a:xfrm>
            <a:off x="20" y="10"/>
            <a:ext cx="9143980" cy="6857990"/>
          </a:xfrm>
          <a:prstGeom prst="rect">
            <a:avLst/>
          </a:prstGeom>
        </p:spPr>
      </p:pic>
      <p:sp>
        <p:nvSpPr>
          <p:cNvPr id="10" name="Isosceles Triangle 9">
            <a:extLst>
              <a:ext uri="{FF2B5EF4-FFF2-40B4-BE49-F238E27FC236}">
                <a16:creationId xmlns:a16="http://schemas.microsoft.com/office/drawing/2014/main" id="{F5F0CD5C-72F3-4090-8A69-8E15CB432AC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0" y="0"/>
            <a:ext cx="631947" cy="5666154"/>
          </a:xfrm>
          <a:prstGeom prst="triangle">
            <a:avLst>
              <a:gd name="adj" fmla="val 100000"/>
            </a:avLst>
          </a:prstGeom>
          <a:solidFill>
            <a:schemeClr val="accent1">
              <a:alpha val="8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s-ES"/>
          </a:p>
        </p:txBody>
      </p:sp>
      <p:sp>
        <p:nvSpPr>
          <p:cNvPr id="12" name="Parallelogram 11">
            <a:extLst>
              <a:ext uri="{FF2B5EF4-FFF2-40B4-BE49-F238E27FC236}">
                <a16:creationId xmlns:a16="http://schemas.microsoft.com/office/drawing/2014/main" id="{217496A2-9394-4FB7-BA0E-717D2D2E7A4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800350" y="0"/>
            <a:ext cx="5486400" cy="6858000"/>
          </a:xfrm>
          <a:prstGeom prst="parallelogram">
            <a:avLst>
              <a:gd name="adj" fmla="val 15925"/>
            </a:avLst>
          </a:prstGeom>
          <a:solidFill>
            <a:schemeClr val="bg1">
              <a:alpha val="87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D02CF681-4765-4E88-802F-B2474DCD516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028259" y="0"/>
            <a:ext cx="914400" cy="6858000"/>
          </a:xfrm>
          <a:prstGeom prst="line">
            <a:avLst/>
          </a:prstGeom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3D57B2BA-243C-45C7-A5D8-46CA719437F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5568950" y="3681413"/>
            <a:ext cx="3572668" cy="3176587"/>
          </a:xfrm>
          <a:prstGeom prst="line">
            <a:avLst/>
          </a:prstGeom>
          <a:ln w="952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ectangle 23">
            <a:extLst>
              <a:ext uri="{FF2B5EF4-FFF2-40B4-BE49-F238E27FC236}">
                <a16:creationId xmlns:a16="http://schemas.microsoft.com/office/drawing/2014/main" id="{67374FB5-CBB7-46FF-95B5-2251BC6856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886107" y="-8467"/>
            <a:ext cx="2255511" cy="6866467"/>
          </a:xfrm>
          <a:custGeom>
            <a:avLst/>
            <a:gdLst/>
            <a:ahLst/>
            <a:cxnLst/>
            <a:rect l="l" t="t" r="r" b="b"/>
            <a:pathLst>
              <a:path w="3007349" h="6866467">
                <a:moveTo>
                  <a:pt x="2045532" y="0"/>
                </a:moveTo>
                <a:lnTo>
                  <a:pt x="3007349" y="0"/>
                </a:lnTo>
                <a:lnTo>
                  <a:pt x="3007349" y="6866467"/>
                </a:lnTo>
                <a:lnTo>
                  <a:pt x="0" y="6866467"/>
                </a:lnTo>
                <a:lnTo>
                  <a:pt x="2045532" y="0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s-ES"/>
          </a:p>
        </p:txBody>
      </p:sp>
      <p:sp>
        <p:nvSpPr>
          <p:cNvPr id="20" name="Rectangle 25">
            <a:extLst>
              <a:ext uri="{FF2B5EF4-FFF2-40B4-BE49-F238E27FC236}">
                <a16:creationId xmlns:a16="http://schemas.microsoft.com/office/drawing/2014/main" id="{34BCEAB7-D9E0-40A4-9254-8593BD346E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202581" y="-8467"/>
            <a:ext cx="1941419" cy="6866467"/>
          </a:xfrm>
          <a:custGeom>
            <a:avLst/>
            <a:gdLst/>
            <a:ahLst/>
            <a:cxnLst/>
            <a:rect l="l" t="t" r="r" b="b"/>
            <a:pathLst>
              <a:path w="2573311" h="6866467">
                <a:moveTo>
                  <a:pt x="0" y="0"/>
                </a:moveTo>
                <a:lnTo>
                  <a:pt x="2573311" y="0"/>
                </a:lnTo>
                <a:lnTo>
                  <a:pt x="2573311" y="6866467"/>
                </a:lnTo>
                <a:lnTo>
                  <a:pt x="1202336" y="6866467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>
              <a:alpha val="2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s-ES"/>
          </a:p>
        </p:txBody>
      </p:sp>
      <p:sp>
        <p:nvSpPr>
          <p:cNvPr id="22" name="Isosceles Triangle 21">
            <a:extLst>
              <a:ext uri="{FF2B5EF4-FFF2-40B4-BE49-F238E27FC236}">
                <a16:creationId xmlns:a16="http://schemas.microsoft.com/office/drawing/2014/main" id="{D567A354-BB63-405C-8E5F-2F510E670F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99249" y="3048000"/>
            <a:ext cx="2444751" cy="3810000"/>
          </a:xfrm>
          <a:prstGeom prst="triangle">
            <a:avLst>
              <a:gd name="adj" fmla="val 100000"/>
            </a:avLst>
          </a:prstGeom>
          <a:solidFill>
            <a:schemeClr val="accent2">
              <a:alpha val="72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s-E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593587" y="1678665"/>
            <a:ext cx="3361915" cy="2369131"/>
          </a:xfrm>
        </p:spPr>
        <p:txBody>
          <a:bodyPr>
            <a:normAutofit/>
          </a:bodyPr>
          <a:lstStyle/>
          <a:p>
            <a:pPr algn="ctr">
              <a:lnSpc>
                <a:spcPct val="90000"/>
              </a:lnSpc>
            </a:pPr>
            <a:r>
              <a:rPr lang="pt-BR" sz="3400" b="1" dirty="0"/>
              <a:t>DIAGRAMA DE VIOLÍN</a:t>
            </a:r>
            <a:br>
              <a:rPr lang="pt-BR" sz="3400" b="1" dirty="0"/>
            </a:br>
            <a:r>
              <a:rPr lang="pt-BR" sz="3400" b="1" dirty="0"/>
              <a:t>(VIOLIN PLOT)</a:t>
            </a:r>
          </a:p>
        </p:txBody>
      </p:sp>
      <p:sp>
        <p:nvSpPr>
          <p:cNvPr id="24" name="Rectangle 27">
            <a:extLst>
              <a:ext uri="{FF2B5EF4-FFF2-40B4-BE49-F238E27FC236}">
                <a16:creationId xmlns:a16="http://schemas.microsoft.com/office/drawing/2014/main" id="{9185A8D7-2F20-4F7A-97BE-21DB1654C7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000875" y="-8467"/>
            <a:ext cx="2140744" cy="6866467"/>
          </a:xfrm>
          <a:custGeom>
            <a:avLst/>
            <a:gdLst/>
            <a:ahLst/>
            <a:cxnLst/>
            <a:rect l="l" t="t" r="r" b="b"/>
            <a:pathLst>
              <a:path w="2858013" h="6866467">
                <a:moveTo>
                  <a:pt x="0" y="0"/>
                </a:moveTo>
                <a:lnTo>
                  <a:pt x="2858013" y="0"/>
                </a:lnTo>
                <a:lnTo>
                  <a:pt x="2858013" y="6866467"/>
                </a:lnTo>
                <a:lnTo>
                  <a:pt x="2473942" y="6866467"/>
                </a:lnTo>
                <a:lnTo>
                  <a:pt x="0" y="0"/>
                </a:lnTo>
                <a:close/>
              </a:path>
            </a:pathLst>
          </a:custGeom>
          <a:solidFill>
            <a:schemeClr val="accent2">
              <a:lumMod val="75000"/>
              <a:alpha val="47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s-ES"/>
          </a:p>
        </p:txBody>
      </p:sp>
      <p:sp>
        <p:nvSpPr>
          <p:cNvPr id="26" name="Rectangle 28">
            <a:extLst>
              <a:ext uri="{FF2B5EF4-FFF2-40B4-BE49-F238E27FC236}">
                <a16:creationId xmlns:a16="http://schemas.microsoft.com/office/drawing/2014/main" id="{CB65BD56-22B3-4E13-BFCA-B8E8BEB92D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174047" y="-8467"/>
            <a:ext cx="967571" cy="6866467"/>
          </a:xfrm>
          <a:custGeom>
            <a:avLst/>
            <a:gdLst/>
            <a:ahLst/>
            <a:cxnLst/>
            <a:rect l="l" t="t" r="r" b="b"/>
            <a:pathLst>
              <a:path w="1290094" h="6858000">
                <a:moveTo>
                  <a:pt x="1019735" y="0"/>
                </a:moveTo>
                <a:lnTo>
                  <a:pt x="1290094" y="0"/>
                </a:lnTo>
                <a:lnTo>
                  <a:pt x="1290094" y="6858000"/>
                </a:lnTo>
                <a:lnTo>
                  <a:pt x="0" y="6858000"/>
                </a:lnTo>
                <a:lnTo>
                  <a:pt x="1019735" y="0"/>
                </a:lnTo>
                <a:close/>
              </a:path>
            </a:pathLst>
          </a:custGeom>
          <a:solidFill>
            <a:schemeClr val="accent1">
              <a:lumMod val="60000"/>
              <a:lumOff val="40000"/>
              <a:alpha val="7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s-ES"/>
          </a:p>
        </p:txBody>
      </p:sp>
      <p:sp>
        <p:nvSpPr>
          <p:cNvPr id="28" name="Rectangle 29">
            <a:extLst>
              <a:ext uri="{FF2B5EF4-FFF2-40B4-BE49-F238E27FC236}">
                <a16:creationId xmlns:a16="http://schemas.microsoft.com/office/drawing/2014/main" id="{6790ED68-BCA0-4247-A72F-1CB85DF068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204249" y="-8467"/>
            <a:ext cx="937369" cy="6866467"/>
          </a:xfrm>
          <a:custGeom>
            <a:avLst/>
            <a:gdLst/>
            <a:ahLst/>
            <a:cxnLst/>
            <a:rect l="l" t="t" r="r" b="b"/>
            <a:pathLst>
              <a:path w="1249825" h="6858000">
                <a:moveTo>
                  <a:pt x="0" y="0"/>
                </a:moveTo>
                <a:lnTo>
                  <a:pt x="1249825" y="0"/>
                </a:lnTo>
                <a:lnTo>
                  <a:pt x="1249825" y="6858000"/>
                </a:lnTo>
                <a:lnTo>
                  <a:pt x="1109382" y="685800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>
              <a:alpha val="6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s-ES"/>
          </a:p>
        </p:txBody>
      </p:sp>
      <p:sp>
        <p:nvSpPr>
          <p:cNvPr id="30" name="Isosceles Triangle 29">
            <a:extLst>
              <a:ext uri="{FF2B5EF4-FFF2-40B4-BE49-F238E27FC236}">
                <a16:creationId xmlns:a16="http://schemas.microsoft.com/office/drawing/2014/main" id="{DD0F2B3F-DC55-4FA7-B667-1ACD079209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778749" y="3589867"/>
            <a:ext cx="1362869" cy="3268133"/>
          </a:xfrm>
          <a:prstGeom prst="triangle">
            <a:avLst>
              <a:gd name="adj" fmla="val 100000"/>
            </a:avLst>
          </a:prstGeom>
          <a:solidFill>
            <a:schemeClr val="accent1">
              <a:alpha val="8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s-ES"/>
          </a:p>
        </p:txBody>
      </p:sp>
      <p:sp>
        <p:nvSpPr>
          <p:cNvPr id="6" name="Subtítulo 5">
            <a:extLst>
              <a:ext uri="{FF2B5EF4-FFF2-40B4-BE49-F238E27FC236}">
                <a16:creationId xmlns:a16="http://schemas.microsoft.com/office/drawing/2014/main" id="{C354D7D3-CE32-EA4F-FC8A-0EBCE51F958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s-E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8000" y="609600"/>
            <a:ext cx="2203851" cy="5431762"/>
          </a:xfrm>
        </p:spPr>
        <p:txBody>
          <a:bodyPr anchor="ctr">
            <a:normAutofit/>
          </a:bodyPr>
          <a:lstStyle/>
          <a:p>
            <a:r>
              <a:rPr lang="es-ES" dirty="0"/>
              <a:t>¿Qué es un violín </a:t>
            </a:r>
            <a:r>
              <a:rPr lang="es-ES" dirty="0" err="1"/>
              <a:t>plot</a:t>
            </a:r>
            <a:r>
              <a:rPr lang="es-ES" dirty="0"/>
              <a:t>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885166" y="609602"/>
            <a:ext cx="4068084" cy="3208334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  <a:defRPr sz="2000">
                <a:solidFill>
                  <a:srgbClr val="1E1E1E"/>
                </a:solidFill>
              </a:defRPr>
            </a:pPr>
            <a:r>
              <a:rPr lang="es-ES" sz="1300" dirty="0"/>
              <a:t>Es una visualización que permite mostrar cómo se distribuyen los datos de una variable numérica</a:t>
            </a:r>
          </a:p>
          <a:p>
            <a:pPr>
              <a:lnSpc>
                <a:spcPct val="90000"/>
              </a:lnSpc>
              <a:defRPr sz="2000">
                <a:solidFill>
                  <a:srgbClr val="1E1E1E"/>
                </a:solidFill>
              </a:defRPr>
            </a:pPr>
            <a:r>
              <a:rPr lang="es-ES" sz="1300" dirty="0"/>
              <a:t>Combina la información de un </a:t>
            </a:r>
            <a:r>
              <a:rPr lang="es-ES" sz="1300" dirty="0" err="1"/>
              <a:t>boxplot</a:t>
            </a:r>
            <a:r>
              <a:rPr lang="es-ES" sz="1300" dirty="0"/>
              <a:t> (mediana y rango) con una curva de densidad, lo que permite ver la forma de la distribución.</a:t>
            </a:r>
          </a:p>
          <a:p>
            <a:pPr>
              <a:lnSpc>
                <a:spcPct val="90000"/>
              </a:lnSpc>
              <a:defRPr sz="2000">
                <a:solidFill>
                  <a:srgbClr val="1E1E1E"/>
                </a:solidFill>
              </a:defRPr>
            </a:pPr>
            <a:r>
              <a:rPr lang="es-ES" sz="1300" dirty="0"/>
              <a:t>La parte ensanchada del “violín” indica dónde los datos están más concentrados, y la parte estrecha, dónde hay menos valores.</a:t>
            </a:r>
          </a:p>
          <a:p>
            <a:pPr>
              <a:lnSpc>
                <a:spcPct val="90000"/>
              </a:lnSpc>
              <a:defRPr sz="2000">
                <a:solidFill>
                  <a:srgbClr val="1E1E1E"/>
                </a:solidFill>
              </a:defRPr>
            </a:pPr>
            <a:r>
              <a:rPr lang="es-ES" sz="1300" dirty="0"/>
              <a:t>Puede representar varios grupos uno al lado del otro para facilitar la comparación de distribuciones.</a:t>
            </a:r>
          </a:p>
        </p:txBody>
      </p:sp>
      <p:pic>
        <p:nvPicPr>
          <p:cNvPr id="4" name="Picture 2" descr="indefinido">
            <a:extLst>
              <a:ext uri="{FF2B5EF4-FFF2-40B4-BE49-F238E27FC236}">
                <a16:creationId xmlns:a16="http://schemas.microsoft.com/office/drawing/2014/main" id="{6BF923C3-60A6-E467-CAE8-2D4BD9F09B1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2885165" y="4048918"/>
            <a:ext cx="5533281" cy="21994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655AE6B0-AC9E-4167-806F-E9DB135FC46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9360" y="1382486"/>
            <a:ext cx="2660686" cy="4093028"/>
          </a:xfrm>
        </p:spPr>
        <p:txBody>
          <a:bodyPr anchor="ctr">
            <a:normAutofit/>
          </a:bodyPr>
          <a:lstStyle/>
          <a:p>
            <a:r>
              <a:rPr lang="es-ES" sz="3800" dirty="0"/>
              <a:t>¿Para qué se utiliza?</a:t>
            </a: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3523416A-383B-4FDC-B4C9-D8EDDFE9C04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996950" y="-8467"/>
            <a:ext cx="3575050" cy="6866467"/>
            <a:chOff x="7425267" y="-8467"/>
            <a:chExt cx="4766733" cy="6866467"/>
          </a:xfrm>
        </p:grpSpPr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CB0D29D5-3F7C-4197-821B-6D60A66CC0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rgbClr val="BFBFBF">
                  <a:alpha val="75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347FB49A-3541-428A-AADE-682A3C50563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rgbClr val="BFBFBF">
                  <a:alpha val="80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4" name="Rectangle 23">
              <a:extLst>
                <a:ext uri="{FF2B5EF4-FFF2-40B4-BE49-F238E27FC236}">
                  <a16:creationId xmlns:a16="http://schemas.microsoft.com/office/drawing/2014/main" id="{D96F53DC-08F1-42C6-B558-B83D54B2766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s-ES"/>
            </a:p>
          </p:txBody>
        </p:sp>
        <p:sp>
          <p:nvSpPr>
            <p:cNvPr id="15" name="Rectangle 25">
              <a:extLst>
                <a:ext uri="{FF2B5EF4-FFF2-40B4-BE49-F238E27FC236}">
                  <a16:creationId xmlns:a16="http://schemas.microsoft.com/office/drawing/2014/main" id="{AFE48CAF-A51C-463F-A570-ED99439A5CA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s-ES"/>
            </a:p>
          </p:txBody>
        </p:sp>
        <p:sp>
          <p:nvSpPr>
            <p:cNvPr id="16" name="Isosceles Triangle 15">
              <a:extLst>
                <a:ext uri="{FF2B5EF4-FFF2-40B4-BE49-F238E27FC236}">
                  <a16:creationId xmlns:a16="http://schemas.microsoft.com/office/drawing/2014/main" id="{01F0C48B-50FF-4351-8207-16D09604831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s-ES"/>
            </a:p>
          </p:txBody>
        </p:sp>
        <p:sp>
          <p:nvSpPr>
            <p:cNvPr id="17" name="Rectangle 27">
              <a:extLst>
                <a:ext uri="{FF2B5EF4-FFF2-40B4-BE49-F238E27FC236}">
                  <a16:creationId xmlns:a16="http://schemas.microsoft.com/office/drawing/2014/main" id="{300384B6-5ED6-4F91-A548-B706D837513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s-ES"/>
            </a:p>
          </p:txBody>
        </p:sp>
        <p:sp>
          <p:nvSpPr>
            <p:cNvPr id="18" name="Rectangle 28">
              <a:extLst>
                <a:ext uri="{FF2B5EF4-FFF2-40B4-BE49-F238E27FC236}">
                  <a16:creationId xmlns:a16="http://schemas.microsoft.com/office/drawing/2014/main" id="{337AFFAE-C182-463C-9459-8AB3C69D9A2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s-ES"/>
            </a:p>
          </p:txBody>
        </p:sp>
        <p:sp>
          <p:nvSpPr>
            <p:cNvPr id="19" name="Rectangle 29">
              <a:extLst>
                <a:ext uri="{FF2B5EF4-FFF2-40B4-BE49-F238E27FC236}">
                  <a16:creationId xmlns:a16="http://schemas.microsoft.com/office/drawing/2014/main" id="{510ACF17-C3F0-42BF-BDEB-D079277121E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s-ES"/>
            </a:p>
          </p:txBody>
        </p:sp>
        <p:sp>
          <p:nvSpPr>
            <p:cNvPr id="20" name="Isosceles Triangle 19">
              <a:extLst>
                <a:ext uri="{FF2B5EF4-FFF2-40B4-BE49-F238E27FC236}">
                  <a16:creationId xmlns:a16="http://schemas.microsoft.com/office/drawing/2014/main" id="{E804EFD0-B84E-476F-9FC6-6C4A42EA005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s-ES"/>
            </a:p>
          </p:txBody>
        </p:sp>
      </p:grpSp>
      <p:sp>
        <p:nvSpPr>
          <p:cNvPr id="22" name="Rectangle 21">
            <a:extLst>
              <a:ext uri="{FF2B5EF4-FFF2-40B4-BE49-F238E27FC236}">
                <a16:creationId xmlns:a16="http://schemas.microsoft.com/office/drawing/2014/main" id="{87BD1F4E-A66D-4C06-86DA-8D56CA7A3B4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83289" y="0"/>
            <a:ext cx="4660711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B611A69B-173F-50FF-436D-7C6C099AAE6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772210943"/>
              </p:ext>
            </p:extLst>
          </p:nvPr>
        </p:nvGraphicFramePr>
        <p:xfrm>
          <a:off x="3687414" y="944563"/>
          <a:ext cx="4971603" cy="497958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Calculadora, lápiz, brújula, dinero y un papel con gráficos impresos en él">
            <a:extLst>
              <a:ext uri="{FF2B5EF4-FFF2-40B4-BE49-F238E27FC236}">
                <a16:creationId xmlns:a16="http://schemas.microsoft.com/office/drawing/2014/main" id="{F415D503-D825-6F97-A3C7-39038A43425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6970" b="9091"/>
          <a:stretch>
            <a:fillRect/>
          </a:stretch>
        </p:blipFill>
        <p:spPr>
          <a:xfrm>
            <a:off x="20" y="10"/>
            <a:ext cx="9143980" cy="6857990"/>
          </a:xfrm>
          <a:prstGeom prst="rect">
            <a:avLst/>
          </a:prstGeom>
        </p:spPr>
      </p:pic>
      <p:sp>
        <p:nvSpPr>
          <p:cNvPr id="30" name="Isosceles Triangle 29">
            <a:extLst>
              <a:ext uri="{FF2B5EF4-FFF2-40B4-BE49-F238E27FC236}">
                <a16:creationId xmlns:a16="http://schemas.microsoft.com/office/drawing/2014/main" id="{DD6B6433-CCD9-42F6-83C5-76BCAA8FEE6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0" y="0"/>
            <a:ext cx="631947" cy="5666154"/>
          </a:xfrm>
          <a:prstGeom prst="triangle">
            <a:avLst>
              <a:gd name="adj" fmla="val 100000"/>
            </a:avLst>
          </a:prstGeom>
          <a:solidFill>
            <a:schemeClr val="accent1">
              <a:alpha val="8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s-ES"/>
          </a:p>
        </p:txBody>
      </p:sp>
      <p:sp>
        <p:nvSpPr>
          <p:cNvPr id="32" name="Parallelogram 31">
            <a:extLst>
              <a:ext uri="{FF2B5EF4-FFF2-40B4-BE49-F238E27FC236}">
                <a16:creationId xmlns:a16="http://schemas.microsoft.com/office/drawing/2014/main" id="{442B55CB-F27D-4C06-89E5-4EC99A519C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218141" y="0"/>
            <a:ext cx="7029450" cy="6858000"/>
          </a:xfrm>
          <a:prstGeom prst="parallelogram">
            <a:avLst>
              <a:gd name="adj" fmla="val 14937"/>
            </a:avLst>
          </a:prstGeom>
          <a:solidFill>
            <a:schemeClr val="bg1">
              <a:alpha val="94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48527540-7F01-4C2E-9641-738882048E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028259" y="0"/>
            <a:ext cx="914400" cy="6858000"/>
          </a:xfrm>
          <a:prstGeom prst="line">
            <a:avLst/>
          </a:prstGeom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D6F60FB6-F855-43F0-A752-3719156C1E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5568950" y="3681413"/>
            <a:ext cx="3572668" cy="3176587"/>
          </a:xfrm>
          <a:prstGeom prst="line">
            <a:avLst/>
          </a:prstGeom>
          <a:ln w="952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Rectangle 23">
            <a:extLst>
              <a:ext uri="{FF2B5EF4-FFF2-40B4-BE49-F238E27FC236}">
                <a16:creationId xmlns:a16="http://schemas.microsoft.com/office/drawing/2014/main" id="{70669A81-0E9B-4B42-AFEA-8F672C6CFB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886107" y="-8467"/>
            <a:ext cx="2255511" cy="6866467"/>
          </a:xfrm>
          <a:custGeom>
            <a:avLst/>
            <a:gdLst/>
            <a:ahLst/>
            <a:cxnLst/>
            <a:rect l="l" t="t" r="r" b="b"/>
            <a:pathLst>
              <a:path w="3007349" h="6866467">
                <a:moveTo>
                  <a:pt x="2045532" y="0"/>
                </a:moveTo>
                <a:lnTo>
                  <a:pt x="3007349" y="0"/>
                </a:lnTo>
                <a:lnTo>
                  <a:pt x="3007349" y="6866467"/>
                </a:lnTo>
                <a:lnTo>
                  <a:pt x="0" y="6866467"/>
                </a:lnTo>
                <a:lnTo>
                  <a:pt x="2045532" y="0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s-E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89535" y="609600"/>
            <a:ext cx="4865966" cy="1320800"/>
          </a:xfrm>
        </p:spPr>
        <p:txBody>
          <a:bodyPr anchor="t">
            <a:normAutofit/>
          </a:bodyPr>
          <a:lstStyle/>
          <a:p>
            <a:r>
              <a:t>Ventajas</a:t>
            </a:r>
          </a:p>
        </p:txBody>
      </p:sp>
      <p:sp>
        <p:nvSpPr>
          <p:cNvPr id="40" name="Rectangle 25">
            <a:extLst>
              <a:ext uri="{FF2B5EF4-FFF2-40B4-BE49-F238E27FC236}">
                <a16:creationId xmlns:a16="http://schemas.microsoft.com/office/drawing/2014/main" id="{8C93E0C6-CF08-4771-B5A9-6018CB3AED5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202581" y="-8467"/>
            <a:ext cx="1941419" cy="6866467"/>
          </a:xfrm>
          <a:custGeom>
            <a:avLst/>
            <a:gdLst/>
            <a:ahLst/>
            <a:cxnLst/>
            <a:rect l="l" t="t" r="r" b="b"/>
            <a:pathLst>
              <a:path w="2573311" h="6866467">
                <a:moveTo>
                  <a:pt x="0" y="0"/>
                </a:moveTo>
                <a:lnTo>
                  <a:pt x="2573311" y="0"/>
                </a:lnTo>
                <a:lnTo>
                  <a:pt x="2573311" y="6866467"/>
                </a:lnTo>
                <a:lnTo>
                  <a:pt x="1202336" y="6866467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>
              <a:alpha val="2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s-ES"/>
          </a:p>
        </p:txBody>
      </p:sp>
      <p:sp>
        <p:nvSpPr>
          <p:cNvPr id="42" name="Isosceles Triangle 41">
            <a:extLst>
              <a:ext uri="{FF2B5EF4-FFF2-40B4-BE49-F238E27FC236}">
                <a16:creationId xmlns:a16="http://schemas.microsoft.com/office/drawing/2014/main" id="{A011F1B8-62C5-4D08-A621-EAD05C7D690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99249" y="3048000"/>
            <a:ext cx="2444751" cy="3810000"/>
          </a:xfrm>
          <a:prstGeom prst="triangle">
            <a:avLst>
              <a:gd name="adj" fmla="val 100000"/>
            </a:avLst>
          </a:prstGeom>
          <a:solidFill>
            <a:schemeClr val="accent2">
              <a:alpha val="72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s-E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089535" y="2159000"/>
            <a:ext cx="4865966" cy="3882362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  <a:defRPr sz="2000">
                <a:solidFill>
                  <a:srgbClr val="1E1E1E"/>
                </a:solidFill>
              </a:defRPr>
            </a:pPr>
            <a:r>
              <a:rPr lang="es-ES" sz="1900" dirty="0"/>
              <a:t>Permite visualizar la forma completa de la distribución,</a:t>
            </a:r>
          </a:p>
          <a:p>
            <a:pPr>
              <a:lnSpc>
                <a:spcPct val="90000"/>
              </a:lnSpc>
              <a:defRPr sz="2000">
                <a:solidFill>
                  <a:srgbClr val="1E1E1E"/>
                </a:solidFill>
              </a:defRPr>
            </a:pPr>
            <a:r>
              <a:rPr lang="es-ES" sz="1900" dirty="0"/>
              <a:t>Muestra dónde se concentran los datos y dónde hay menos frecuencia.</a:t>
            </a:r>
          </a:p>
          <a:p>
            <a:pPr>
              <a:lnSpc>
                <a:spcPct val="90000"/>
              </a:lnSpc>
              <a:defRPr sz="2000">
                <a:solidFill>
                  <a:srgbClr val="1E1E1E"/>
                </a:solidFill>
              </a:defRPr>
            </a:pPr>
            <a:r>
              <a:rPr lang="es-ES" sz="1900" dirty="0"/>
              <a:t>Facilita comparar varias distribuciones a la vez, de forma clara y compacta.</a:t>
            </a:r>
          </a:p>
          <a:p>
            <a:pPr>
              <a:lnSpc>
                <a:spcPct val="90000"/>
              </a:lnSpc>
              <a:defRPr sz="2000">
                <a:solidFill>
                  <a:srgbClr val="1E1E1E"/>
                </a:solidFill>
              </a:defRPr>
            </a:pPr>
            <a:r>
              <a:rPr lang="es-ES" sz="1900" dirty="0"/>
              <a:t>Permite identificar si la distribución es simétrica, sesgada o multimodal.</a:t>
            </a:r>
          </a:p>
          <a:p>
            <a:pPr>
              <a:lnSpc>
                <a:spcPct val="90000"/>
              </a:lnSpc>
              <a:defRPr sz="2000">
                <a:solidFill>
                  <a:srgbClr val="1E1E1E"/>
                </a:solidFill>
              </a:defRPr>
            </a:pPr>
            <a:r>
              <a:rPr lang="es-ES" sz="1900" dirty="0"/>
              <a:t>Aporta más información que un </a:t>
            </a:r>
            <a:r>
              <a:rPr lang="es-ES" sz="1900" dirty="0" err="1"/>
              <a:t>boxplot</a:t>
            </a:r>
            <a:r>
              <a:rPr lang="es-ES" sz="1900" dirty="0"/>
              <a:t> tradicional al incluir la densidad de los datos.</a:t>
            </a:r>
          </a:p>
        </p:txBody>
      </p:sp>
      <p:sp>
        <p:nvSpPr>
          <p:cNvPr id="44" name="Rectangle 27">
            <a:extLst>
              <a:ext uri="{FF2B5EF4-FFF2-40B4-BE49-F238E27FC236}">
                <a16:creationId xmlns:a16="http://schemas.microsoft.com/office/drawing/2014/main" id="{C6A6AECB-428C-4CB4-B65A-359F08B6D8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000875" y="-8467"/>
            <a:ext cx="2140744" cy="6866467"/>
          </a:xfrm>
          <a:custGeom>
            <a:avLst/>
            <a:gdLst/>
            <a:ahLst/>
            <a:cxnLst/>
            <a:rect l="l" t="t" r="r" b="b"/>
            <a:pathLst>
              <a:path w="2858013" h="6866467">
                <a:moveTo>
                  <a:pt x="0" y="0"/>
                </a:moveTo>
                <a:lnTo>
                  <a:pt x="2858013" y="0"/>
                </a:lnTo>
                <a:lnTo>
                  <a:pt x="2858013" y="6866467"/>
                </a:lnTo>
                <a:lnTo>
                  <a:pt x="2473942" y="6866467"/>
                </a:lnTo>
                <a:lnTo>
                  <a:pt x="0" y="0"/>
                </a:lnTo>
                <a:close/>
              </a:path>
            </a:pathLst>
          </a:custGeom>
          <a:solidFill>
            <a:schemeClr val="accent2">
              <a:lumMod val="75000"/>
              <a:alpha val="47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s-ES"/>
          </a:p>
        </p:txBody>
      </p:sp>
      <p:sp>
        <p:nvSpPr>
          <p:cNvPr id="46" name="Rectangle 28">
            <a:extLst>
              <a:ext uri="{FF2B5EF4-FFF2-40B4-BE49-F238E27FC236}">
                <a16:creationId xmlns:a16="http://schemas.microsoft.com/office/drawing/2014/main" id="{28D1A6ED-2AB6-46A3-A315-485B8BF936D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174047" y="-8467"/>
            <a:ext cx="967571" cy="6866467"/>
          </a:xfrm>
          <a:custGeom>
            <a:avLst/>
            <a:gdLst/>
            <a:ahLst/>
            <a:cxnLst/>
            <a:rect l="l" t="t" r="r" b="b"/>
            <a:pathLst>
              <a:path w="1290094" h="6858000">
                <a:moveTo>
                  <a:pt x="1019735" y="0"/>
                </a:moveTo>
                <a:lnTo>
                  <a:pt x="1290094" y="0"/>
                </a:lnTo>
                <a:lnTo>
                  <a:pt x="1290094" y="6858000"/>
                </a:lnTo>
                <a:lnTo>
                  <a:pt x="0" y="6858000"/>
                </a:lnTo>
                <a:lnTo>
                  <a:pt x="1019735" y="0"/>
                </a:lnTo>
                <a:close/>
              </a:path>
            </a:pathLst>
          </a:custGeom>
          <a:solidFill>
            <a:schemeClr val="accent1">
              <a:lumMod val="60000"/>
              <a:lumOff val="40000"/>
              <a:alpha val="7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s-ES"/>
          </a:p>
        </p:txBody>
      </p:sp>
      <p:sp>
        <p:nvSpPr>
          <p:cNvPr id="48" name="Rectangle 29">
            <a:extLst>
              <a:ext uri="{FF2B5EF4-FFF2-40B4-BE49-F238E27FC236}">
                <a16:creationId xmlns:a16="http://schemas.microsoft.com/office/drawing/2014/main" id="{B61CE46B-8525-46A8-AB7B-DCBCC1B65F9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204249" y="-8467"/>
            <a:ext cx="937369" cy="6866467"/>
          </a:xfrm>
          <a:custGeom>
            <a:avLst/>
            <a:gdLst/>
            <a:ahLst/>
            <a:cxnLst/>
            <a:rect l="l" t="t" r="r" b="b"/>
            <a:pathLst>
              <a:path w="1249825" h="6858000">
                <a:moveTo>
                  <a:pt x="0" y="0"/>
                </a:moveTo>
                <a:lnTo>
                  <a:pt x="1249825" y="0"/>
                </a:lnTo>
                <a:lnTo>
                  <a:pt x="1249825" y="6858000"/>
                </a:lnTo>
                <a:lnTo>
                  <a:pt x="1109382" y="685800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>
              <a:alpha val="6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s-ES"/>
          </a:p>
        </p:txBody>
      </p:sp>
      <p:sp>
        <p:nvSpPr>
          <p:cNvPr id="50" name="Isosceles Triangle 49">
            <a:extLst>
              <a:ext uri="{FF2B5EF4-FFF2-40B4-BE49-F238E27FC236}">
                <a16:creationId xmlns:a16="http://schemas.microsoft.com/office/drawing/2014/main" id="{4412B991-9935-45FB-A17E-8F30DD8325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778749" y="3589867"/>
            <a:ext cx="1362869" cy="3268133"/>
          </a:xfrm>
          <a:prstGeom prst="triangle">
            <a:avLst>
              <a:gd name="adj" fmla="val 100000"/>
            </a:avLst>
          </a:prstGeom>
          <a:solidFill>
            <a:schemeClr val="accent1">
              <a:alpha val="8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s-E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Gráficas financieras en una pantalla oscura">
            <a:extLst>
              <a:ext uri="{FF2B5EF4-FFF2-40B4-BE49-F238E27FC236}">
                <a16:creationId xmlns:a16="http://schemas.microsoft.com/office/drawing/2014/main" id="{309F45B7-A440-F6D2-5B57-1B10144DDC3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6667"/>
          <a:stretch>
            <a:fillRect/>
          </a:stretch>
        </p:blipFill>
        <p:spPr>
          <a:xfrm>
            <a:off x="20" y="10"/>
            <a:ext cx="9143980" cy="6857990"/>
          </a:xfrm>
          <a:prstGeom prst="rect">
            <a:avLst/>
          </a:prstGeom>
        </p:spPr>
      </p:pic>
      <p:sp>
        <p:nvSpPr>
          <p:cNvPr id="14" name="Isosceles Triangle 13">
            <a:extLst>
              <a:ext uri="{FF2B5EF4-FFF2-40B4-BE49-F238E27FC236}">
                <a16:creationId xmlns:a16="http://schemas.microsoft.com/office/drawing/2014/main" id="{DD6B6433-CCD9-42F6-83C5-76BCAA8FEE6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0" y="0"/>
            <a:ext cx="631947" cy="5666154"/>
          </a:xfrm>
          <a:prstGeom prst="triangle">
            <a:avLst>
              <a:gd name="adj" fmla="val 100000"/>
            </a:avLst>
          </a:prstGeom>
          <a:solidFill>
            <a:schemeClr val="accent1">
              <a:alpha val="8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s-ES"/>
          </a:p>
        </p:txBody>
      </p:sp>
      <p:sp>
        <p:nvSpPr>
          <p:cNvPr id="16" name="Parallelogram 15">
            <a:extLst>
              <a:ext uri="{FF2B5EF4-FFF2-40B4-BE49-F238E27FC236}">
                <a16:creationId xmlns:a16="http://schemas.microsoft.com/office/drawing/2014/main" id="{442B55CB-F27D-4C06-89E5-4EC99A519C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218141" y="0"/>
            <a:ext cx="7029450" cy="6858000"/>
          </a:xfrm>
          <a:prstGeom prst="parallelogram">
            <a:avLst>
              <a:gd name="adj" fmla="val 14937"/>
            </a:avLst>
          </a:prstGeom>
          <a:solidFill>
            <a:schemeClr val="bg1">
              <a:alpha val="94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48527540-7F01-4C2E-9641-738882048E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028259" y="0"/>
            <a:ext cx="914400" cy="6858000"/>
          </a:xfrm>
          <a:prstGeom prst="line">
            <a:avLst/>
          </a:prstGeom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D6F60FB6-F855-43F0-A752-3719156C1E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5568950" y="3681413"/>
            <a:ext cx="3572668" cy="3176587"/>
          </a:xfrm>
          <a:prstGeom prst="line">
            <a:avLst/>
          </a:prstGeom>
          <a:ln w="952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ectangle 23">
            <a:extLst>
              <a:ext uri="{FF2B5EF4-FFF2-40B4-BE49-F238E27FC236}">
                <a16:creationId xmlns:a16="http://schemas.microsoft.com/office/drawing/2014/main" id="{70669A81-0E9B-4B42-AFEA-8F672C6CFB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886107" y="-8467"/>
            <a:ext cx="2255511" cy="6866467"/>
          </a:xfrm>
          <a:custGeom>
            <a:avLst/>
            <a:gdLst/>
            <a:ahLst/>
            <a:cxnLst/>
            <a:rect l="l" t="t" r="r" b="b"/>
            <a:pathLst>
              <a:path w="3007349" h="6866467">
                <a:moveTo>
                  <a:pt x="2045532" y="0"/>
                </a:moveTo>
                <a:lnTo>
                  <a:pt x="3007349" y="0"/>
                </a:lnTo>
                <a:lnTo>
                  <a:pt x="3007349" y="6866467"/>
                </a:lnTo>
                <a:lnTo>
                  <a:pt x="0" y="6866467"/>
                </a:lnTo>
                <a:lnTo>
                  <a:pt x="2045532" y="0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s-E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89535" y="609600"/>
            <a:ext cx="4865966" cy="1320800"/>
          </a:xfrm>
        </p:spPr>
        <p:txBody>
          <a:bodyPr anchor="t">
            <a:normAutofit/>
          </a:bodyPr>
          <a:lstStyle/>
          <a:p>
            <a:r>
              <a:rPr lang="es-ES" dirty="0"/>
              <a:t>DESVENTAJAS</a:t>
            </a:r>
            <a:endParaRPr dirty="0"/>
          </a:p>
        </p:txBody>
      </p:sp>
      <p:sp>
        <p:nvSpPr>
          <p:cNvPr id="24" name="Rectangle 25">
            <a:extLst>
              <a:ext uri="{FF2B5EF4-FFF2-40B4-BE49-F238E27FC236}">
                <a16:creationId xmlns:a16="http://schemas.microsoft.com/office/drawing/2014/main" id="{8C93E0C6-CF08-4771-B5A9-6018CB3AED5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202581" y="-8467"/>
            <a:ext cx="1941419" cy="6866467"/>
          </a:xfrm>
          <a:custGeom>
            <a:avLst/>
            <a:gdLst/>
            <a:ahLst/>
            <a:cxnLst/>
            <a:rect l="l" t="t" r="r" b="b"/>
            <a:pathLst>
              <a:path w="2573311" h="6866467">
                <a:moveTo>
                  <a:pt x="0" y="0"/>
                </a:moveTo>
                <a:lnTo>
                  <a:pt x="2573311" y="0"/>
                </a:lnTo>
                <a:lnTo>
                  <a:pt x="2573311" y="6866467"/>
                </a:lnTo>
                <a:lnTo>
                  <a:pt x="1202336" y="6866467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>
              <a:alpha val="2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s-ES"/>
          </a:p>
        </p:txBody>
      </p:sp>
      <p:sp>
        <p:nvSpPr>
          <p:cNvPr id="26" name="Isosceles Triangle 25">
            <a:extLst>
              <a:ext uri="{FF2B5EF4-FFF2-40B4-BE49-F238E27FC236}">
                <a16:creationId xmlns:a16="http://schemas.microsoft.com/office/drawing/2014/main" id="{A011F1B8-62C5-4D08-A621-EAD05C7D690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99249" y="3048000"/>
            <a:ext cx="2444751" cy="3810000"/>
          </a:xfrm>
          <a:prstGeom prst="triangle">
            <a:avLst>
              <a:gd name="adj" fmla="val 100000"/>
            </a:avLst>
          </a:prstGeom>
          <a:solidFill>
            <a:schemeClr val="accent2">
              <a:alpha val="72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s-E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089535" y="2159000"/>
            <a:ext cx="4865966" cy="3882362"/>
          </a:xfrm>
        </p:spPr>
        <p:txBody>
          <a:bodyPr>
            <a:normAutofit/>
          </a:bodyPr>
          <a:lstStyle/>
          <a:p>
            <a:pPr>
              <a:defRPr sz="2000">
                <a:solidFill>
                  <a:srgbClr val="1E1E1E"/>
                </a:solidFill>
              </a:defRPr>
            </a:pPr>
            <a:r>
              <a:rPr lang="es-ES" sz="2000" dirty="0"/>
              <a:t>Puede ser difícil de interpretar si no se conoce la técnica.</a:t>
            </a:r>
          </a:p>
          <a:p>
            <a:pPr>
              <a:defRPr sz="2000">
                <a:solidFill>
                  <a:srgbClr val="1E1E1E"/>
                </a:solidFill>
              </a:defRPr>
            </a:pPr>
            <a:r>
              <a:rPr lang="es-ES" sz="2000" dirty="0"/>
              <a:t>Si hay pocos datos, la forma puede resultar engañosa.</a:t>
            </a:r>
          </a:p>
          <a:p>
            <a:pPr>
              <a:defRPr sz="2000">
                <a:solidFill>
                  <a:srgbClr val="1E1E1E"/>
                </a:solidFill>
              </a:defRPr>
            </a:pPr>
            <a:r>
              <a:rPr lang="es-ES" sz="2000" dirty="0"/>
              <a:t>Es más complejo de construir que un </a:t>
            </a:r>
            <a:r>
              <a:rPr lang="es-ES" sz="2000" dirty="0" err="1"/>
              <a:t>boxplot</a:t>
            </a:r>
            <a:r>
              <a:rPr lang="es-ES" sz="2000" dirty="0"/>
              <a:t>.</a:t>
            </a:r>
          </a:p>
          <a:p>
            <a:pPr>
              <a:defRPr sz="2000">
                <a:solidFill>
                  <a:srgbClr val="1E1E1E"/>
                </a:solidFill>
              </a:defRPr>
            </a:pPr>
            <a:r>
              <a:rPr lang="es-ES" sz="2000" dirty="0"/>
              <a:t>Comparar valores exactos es menos preciso, se interpreta por forma, no por cifras.</a:t>
            </a:r>
          </a:p>
          <a:p>
            <a:pPr>
              <a:defRPr sz="2000">
                <a:solidFill>
                  <a:srgbClr val="1E1E1E"/>
                </a:solidFill>
              </a:defRPr>
            </a:pPr>
            <a:endParaRPr lang="es-ES" sz="2000" dirty="0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C6A6AECB-428C-4CB4-B65A-359F08B6D8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000875" y="-8467"/>
            <a:ext cx="2140744" cy="6866467"/>
          </a:xfrm>
          <a:custGeom>
            <a:avLst/>
            <a:gdLst/>
            <a:ahLst/>
            <a:cxnLst/>
            <a:rect l="l" t="t" r="r" b="b"/>
            <a:pathLst>
              <a:path w="2858013" h="6866467">
                <a:moveTo>
                  <a:pt x="0" y="0"/>
                </a:moveTo>
                <a:lnTo>
                  <a:pt x="2858013" y="0"/>
                </a:lnTo>
                <a:lnTo>
                  <a:pt x="2858013" y="6866467"/>
                </a:lnTo>
                <a:lnTo>
                  <a:pt x="2473942" y="6866467"/>
                </a:lnTo>
                <a:lnTo>
                  <a:pt x="0" y="0"/>
                </a:lnTo>
                <a:close/>
              </a:path>
            </a:pathLst>
          </a:custGeom>
          <a:solidFill>
            <a:schemeClr val="accent2">
              <a:lumMod val="75000"/>
              <a:alpha val="47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s-ES"/>
          </a:p>
        </p:txBody>
      </p:sp>
      <p:sp>
        <p:nvSpPr>
          <p:cNvPr id="30" name="Rectangle 28">
            <a:extLst>
              <a:ext uri="{FF2B5EF4-FFF2-40B4-BE49-F238E27FC236}">
                <a16:creationId xmlns:a16="http://schemas.microsoft.com/office/drawing/2014/main" id="{28D1A6ED-2AB6-46A3-A315-485B8BF936D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174047" y="-8467"/>
            <a:ext cx="967571" cy="6866467"/>
          </a:xfrm>
          <a:custGeom>
            <a:avLst/>
            <a:gdLst/>
            <a:ahLst/>
            <a:cxnLst/>
            <a:rect l="l" t="t" r="r" b="b"/>
            <a:pathLst>
              <a:path w="1290094" h="6858000">
                <a:moveTo>
                  <a:pt x="1019735" y="0"/>
                </a:moveTo>
                <a:lnTo>
                  <a:pt x="1290094" y="0"/>
                </a:lnTo>
                <a:lnTo>
                  <a:pt x="1290094" y="6858000"/>
                </a:lnTo>
                <a:lnTo>
                  <a:pt x="0" y="6858000"/>
                </a:lnTo>
                <a:lnTo>
                  <a:pt x="1019735" y="0"/>
                </a:lnTo>
                <a:close/>
              </a:path>
            </a:pathLst>
          </a:custGeom>
          <a:solidFill>
            <a:schemeClr val="accent1">
              <a:lumMod val="60000"/>
              <a:lumOff val="40000"/>
              <a:alpha val="7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s-ES"/>
          </a:p>
        </p:txBody>
      </p:sp>
      <p:sp>
        <p:nvSpPr>
          <p:cNvPr id="32" name="Rectangle 29">
            <a:extLst>
              <a:ext uri="{FF2B5EF4-FFF2-40B4-BE49-F238E27FC236}">
                <a16:creationId xmlns:a16="http://schemas.microsoft.com/office/drawing/2014/main" id="{B61CE46B-8525-46A8-AB7B-DCBCC1B65F9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204249" y="-8467"/>
            <a:ext cx="937369" cy="6866467"/>
          </a:xfrm>
          <a:custGeom>
            <a:avLst/>
            <a:gdLst/>
            <a:ahLst/>
            <a:cxnLst/>
            <a:rect l="l" t="t" r="r" b="b"/>
            <a:pathLst>
              <a:path w="1249825" h="6858000">
                <a:moveTo>
                  <a:pt x="0" y="0"/>
                </a:moveTo>
                <a:lnTo>
                  <a:pt x="1249825" y="0"/>
                </a:lnTo>
                <a:lnTo>
                  <a:pt x="1249825" y="6858000"/>
                </a:lnTo>
                <a:lnTo>
                  <a:pt x="1109382" y="685800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>
              <a:alpha val="6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s-ES"/>
          </a:p>
        </p:txBody>
      </p:sp>
      <p:sp>
        <p:nvSpPr>
          <p:cNvPr id="34" name="Isosceles Triangle 33">
            <a:extLst>
              <a:ext uri="{FF2B5EF4-FFF2-40B4-BE49-F238E27FC236}">
                <a16:creationId xmlns:a16="http://schemas.microsoft.com/office/drawing/2014/main" id="{4412B991-9935-45FB-A17E-8F30DD8325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778749" y="3589867"/>
            <a:ext cx="1362869" cy="3268133"/>
          </a:xfrm>
          <a:prstGeom prst="triangle">
            <a:avLst>
              <a:gd name="adj" fmla="val 100000"/>
            </a:avLst>
          </a:prstGeom>
          <a:solidFill>
            <a:schemeClr val="accent1">
              <a:alpha val="8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s-E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035D984-0F53-C63B-57F8-11591CF0A8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Gráficas financieras en una pantalla oscura">
            <a:extLst>
              <a:ext uri="{FF2B5EF4-FFF2-40B4-BE49-F238E27FC236}">
                <a16:creationId xmlns:a16="http://schemas.microsoft.com/office/drawing/2014/main" id="{B913E5C0-7A58-46E8-2479-841C80A87A9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6667"/>
          <a:stretch>
            <a:fillRect/>
          </a:stretch>
        </p:blipFill>
        <p:spPr>
          <a:xfrm>
            <a:off x="20" y="10"/>
            <a:ext cx="9143980" cy="6857990"/>
          </a:xfrm>
          <a:prstGeom prst="rect">
            <a:avLst/>
          </a:prstGeom>
        </p:spPr>
      </p:pic>
      <p:sp>
        <p:nvSpPr>
          <p:cNvPr id="14" name="Isosceles Triangle 13">
            <a:extLst>
              <a:ext uri="{FF2B5EF4-FFF2-40B4-BE49-F238E27FC236}">
                <a16:creationId xmlns:a16="http://schemas.microsoft.com/office/drawing/2014/main" id="{DD6B6433-CCD9-42F6-83C5-76BCAA8FEE6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0" y="0"/>
            <a:ext cx="631947" cy="5666154"/>
          </a:xfrm>
          <a:prstGeom prst="triangle">
            <a:avLst>
              <a:gd name="adj" fmla="val 100000"/>
            </a:avLst>
          </a:prstGeom>
          <a:solidFill>
            <a:schemeClr val="accent1">
              <a:alpha val="8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s-ES"/>
          </a:p>
        </p:txBody>
      </p:sp>
      <p:sp>
        <p:nvSpPr>
          <p:cNvPr id="16" name="Parallelogram 15">
            <a:extLst>
              <a:ext uri="{FF2B5EF4-FFF2-40B4-BE49-F238E27FC236}">
                <a16:creationId xmlns:a16="http://schemas.microsoft.com/office/drawing/2014/main" id="{442B55CB-F27D-4C06-89E5-4EC99A519C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218141" y="0"/>
            <a:ext cx="7029450" cy="6858000"/>
          </a:xfrm>
          <a:prstGeom prst="parallelogram">
            <a:avLst>
              <a:gd name="adj" fmla="val 14937"/>
            </a:avLst>
          </a:prstGeom>
          <a:solidFill>
            <a:schemeClr val="bg1">
              <a:alpha val="94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48527540-7F01-4C2E-9641-738882048E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028259" y="0"/>
            <a:ext cx="914400" cy="6858000"/>
          </a:xfrm>
          <a:prstGeom prst="line">
            <a:avLst/>
          </a:prstGeom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D6F60FB6-F855-43F0-A752-3719156C1E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5568950" y="3681413"/>
            <a:ext cx="3572668" cy="3176587"/>
          </a:xfrm>
          <a:prstGeom prst="line">
            <a:avLst/>
          </a:prstGeom>
          <a:ln w="952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ectangle 23">
            <a:extLst>
              <a:ext uri="{FF2B5EF4-FFF2-40B4-BE49-F238E27FC236}">
                <a16:creationId xmlns:a16="http://schemas.microsoft.com/office/drawing/2014/main" id="{70669A81-0E9B-4B42-AFEA-8F672C6CFB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886107" y="-8467"/>
            <a:ext cx="2255511" cy="6866467"/>
          </a:xfrm>
          <a:custGeom>
            <a:avLst/>
            <a:gdLst/>
            <a:ahLst/>
            <a:cxnLst/>
            <a:rect l="l" t="t" r="r" b="b"/>
            <a:pathLst>
              <a:path w="3007349" h="6866467">
                <a:moveTo>
                  <a:pt x="2045532" y="0"/>
                </a:moveTo>
                <a:lnTo>
                  <a:pt x="3007349" y="0"/>
                </a:lnTo>
                <a:lnTo>
                  <a:pt x="3007349" y="6866467"/>
                </a:lnTo>
                <a:lnTo>
                  <a:pt x="0" y="6866467"/>
                </a:lnTo>
                <a:lnTo>
                  <a:pt x="2045532" y="0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s-E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50AE892-F56C-88D0-A756-E56B48D69B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89535" y="609600"/>
            <a:ext cx="4865966" cy="1320800"/>
          </a:xfrm>
        </p:spPr>
        <p:txBody>
          <a:bodyPr anchor="t">
            <a:normAutofit/>
          </a:bodyPr>
          <a:lstStyle/>
          <a:p>
            <a:r>
              <a:rPr lang="es-ES" dirty="0"/>
              <a:t>ESTRUCTURA/DATOS</a:t>
            </a:r>
            <a:endParaRPr dirty="0"/>
          </a:p>
        </p:txBody>
      </p:sp>
      <p:sp>
        <p:nvSpPr>
          <p:cNvPr id="24" name="Rectangle 25">
            <a:extLst>
              <a:ext uri="{FF2B5EF4-FFF2-40B4-BE49-F238E27FC236}">
                <a16:creationId xmlns:a16="http://schemas.microsoft.com/office/drawing/2014/main" id="{8C93E0C6-CF08-4771-B5A9-6018CB3AED5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202581" y="-8467"/>
            <a:ext cx="1941419" cy="6866467"/>
          </a:xfrm>
          <a:custGeom>
            <a:avLst/>
            <a:gdLst/>
            <a:ahLst/>
            <a:cxnLst/>
            <a:rect l="l" t="t" r="r" b="b"/>
            <a:pathLst>
              <a:path w="2573311" h="6866467">
                <a:moveTo>
                  <a:pt x="0" y="0"/>
                </a:moveTo>
                <a:lnTo>
                  <a:pt x="2573311" y="0"/>
                </a:lnTo>
                <a:lnTo>
                  <a:pt x="2573311" y="6866467"/>
                </a:lnTo>
                <a:lnTo>
                  <a:pt x="1202336" y="6866467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>
              <a:alpha val="2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s-ES"/>
          </a:p>
        </p:txBody>
      </p:sp>
      <p:sp>
        <p:nvSpPr>
          <p:cNvPr id="26" name="Isosceles Triangle 25">
            <a:extLst>
              <a:ext uri="{FF2B5EF4-FFF2-40B4-BE49-F238E27FC236}">
                <a16:creationId xmlns:a16="http://schemas.microsoft.com/office/drawing/2014/main" id="{A011F1B8-62C5-4D08-A621-EAD05C7D690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99249" y="3048000"/>
            <a:ext cx="2444751" cy="3810000"/>
          </a:xfrm>
          <a:prstGeom prst="triangle">
            <a:avLst>
              <a:gd name="adj" fmla="val 100000"/>
            </a:avLst>
          </a:prstGeom>
          <a:solidFill>
            <a:schemeClr val="accent2">
              <a:alpha val="72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s-E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D6A4A5-5EFD-B9D6-CEA7-9FC7D7C8B43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089535" y="2159000"/>
            <a:ext cx="4865966" cy="3882362"/>
          </a:xfrm>
        </p:spPr>
        <p:txBody>
          <a:bodyPr>
            <a:normAutofit/>
          </a:bodyPr>
          <a:lstStyle/>
          <a:p>
            <a:pPr>
              <a:defRPr sz="2000">
                <a:solidFill>
                  <a:srgbClr val="1E1E1E"/>
                </a:solidFill>
              </a:defRPr>
            </a:pPr>
            <a:r>
              <a:rPr lang="es-ES" sz="2000" dirty="0"/>
              <a:t>Variable numérica: Es la que se representa en el gráfico. Variable categórica (opcional): </a:t>
            </a:r>
          </a:p>
          <a:p>
            <a:pPr>
              <a:defRPr sz="2000">
                <a:solidFill>
                  <a:srgbClr val="1E1E1E"/>
                </a:solidFill>
              </a:defRPr>
            </a:pPr>
            <a:r>
              <a:rPr lang="es-ES" sz="2000" dirty="0"/>
              <a:t>Variable categórica (opcional):</a:t>
            </a:r>
            <a:br>
              <a:rPr lang="es-ES" sz="2000" dirty="0"/>
            </a:br>
            <a:r>
              <a:rPr lang="es-ES" sz="2000" dirty="0"/>
              <a:t>Sirve para comparar grupos</a:t>
            </a:r>
          </a:p>
          <a:p>
            <a:pPr>
              <a:defRPr sz="2000">
                <a:solidFill>
                  <a:srgbClr val="1E1E1E"/>
                </a:solidFill>
              </a:defRPr>
            </a:pPr>
            <a:r>
              <a:rPr lang="es-ES" sz="2000" dirty="0"/>
              <a:t>Densidad de la distribución: determina la forma del violín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C6A6AECB-428C-4CB4-B65A-359F08B6D8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000875" y="-8467"/>
            <a:ext cx="2140744" cy="6866467"/>
          </a:xfrm>
          <a:custGeom>
            <a:avLst/>
            <a:gdLst/>
            <a:ahLst/>
            <a:cxnLst/>
            <a:rect l="l" t="t" r="r" b="b"/>
            <a:pathLst>
              <a:path w="2858013" h="6866467">
                <a:moveTo>
                  <a:pt x="0" y="0"/>
                </a:moveTo>
                <a:lnTo>
                  <a:pt x="2858013" y="0"/>
                </a:lnTo>
                <a:lnTo>
                  <a:pt x="2858013" y="6866467"/>
                </a:lnTo>
                <a:lnTo>
                  <a:pt x="2473942" y="6866467"/>
                </a:lnTo>
                <a:lnTo>
                  <a:pt x="0" y="0"/>
                </a:lnTo>
                <a:close/>
              </a:path>
            </a:pathLst>
          </a:custGeom>
          <a:solidFill>
            <a:schemeClr val="accent2">
              <a:lumMod val="75000"/>
              <a:alpha val="47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s-ES"/>
          </a:p>
        </p:txBody>
      </p:sp>
      <p:sp>
        <p:nvSpPr>
          <p:cNvPr id="30" name="Rectangle 28">
            <a:extLst>
              <a:ext uri="{FF2B5EF4-FFF2-40B4-BE49-F238E27FC236}">
                <a16:creationId xmlns:a16="http://schemas.microsoft.com/office/drawing/2014/main" id="{28D1A6ED-2AB6-46A3-A315-485B8BF936D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174047" y="-8467"/>
            <a:ext cx="967571" cy="6866467"/>
          </a:xfrm>
          <a:custGeom>
            <a:avLst/>
            <a:gdLst/>
            <a:ahLst/>
            <a:cxnLst/>
            <a:rect l="l" t="t" r="r" b="b"/>
            <a:pathLst>
              <a:path w="1290094" h="6858000">
                <a:moveTo>
                  <a:pt x="1019735" y="0"/>
                </a:moveTo>
                <a:lnTo>
                  <a:pt x="1290094" y="0"/>
                </a:lnTo>
                <a:lnTo>
                  <a:pt x="1290094" y="6858000"/>
                </a:lnTo>
                <a:lnTo>
                  <a:pt x="0" y="6858000"/>
                </a:lnTo>
                <a:lnTo>
                  <a:pt x="1019735" y="0"/>
                </a:lnTo>
                <a:close/>
              </a:path>
            </a:pathLst>
          </a:custGeom>
          <a:solidFill>
            <a:schemeClr val="accent1">
              <a:lumMod val="60000"/>
              <a:lumOff val="40000"/>
              <a:alpha val="7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s-ES"/>
          </a:p>
        </p:txBody>
      </p:sp>
      <p:sp>
        <p:nvSpPr>
          <p:cNvPr id="32" name="Rectangle 29">
            <a:extLst>
              <a:ext uri="{FF2B5EF4-FFF2-40B4-BE49-F238E27FC236}">
                <a16:creationId xmlns:a16="http://schemas.microsoft.com/office/drawing/2014/main" id="{B61CE46B-8525-46A8-AB7B-DCBCC1B65F9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204249" y="-8467"/>
            <a:ext cx="937369" cy="6866467"/>
          </a:xfrm>
          <a:custGeom>
            <a:avLst/>
            <a:gdLst/>
            <a:ahLst/>
            <a:cxnLst/>
            <a:rect l="l" t="t" r="r" b="b"/>
            <a:pathLst>
              <a:path w="1249825" h="6858000">
                <a:moveTo>
                  <a:pt x="0" y="0"/>
                </a:moveTo>
                <a:lnTo>
                  <a:pt x="1249825" y="0"/>
                </a:lnTo>
                <a:lnTo>
                  <a:pt x="1249825" y="6858000"/>
                </a:lnTo>
                <a:lnTo>
                  <a:pt x="1109382" y="685800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>
              <a:alpha val="6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s-ES"/>
          </a:p>
        </p:txBody>
      </p:sp>
      <p:sp>
        <p:nvSpPr>
          <p:cNvPr id="34" name="Isosceles Triangle 33">
            <a:extLst>
              <a:ext uri="{FF2B5EF4-FFF2-40B4-BE49-F238E27FC236}">
                <a16:creationId xmlns:a16="http://schemas.microsoft.com/office/drawing/2014/main" id="{4412B991-9935-45FB-A17E-8F30DD8325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778749" y="3589867"/>
            <a:ext cx="1362869" cy="3268133"/>
          </a:xfrm>
          <a:prstGeom prst="triangle">
            <a:avLst>
              <a:gd name="adj" fmla="val 100000"/>
            </a:avLst>
          </a:prstGeom>
          <a:solidFill>
            <a:schemeClr val="accent1">
              <a:alpha val="8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60315698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8000" y="609600"/>
            <a:ext cx="6447501" cy="1320800"/>
          </a:xfrm>
        </p:spPr>
        <p:txBody>
          <a:bodyPr>
            <a:normAutofit/>
          </a:bodyPr>
          <a:lstStyle/>
          <a:p>
            <a:r>
              <a:rPr dirty="0" err="1"/>
              <a:t>Buenas</a:t>
            </a:r>
            <a:r>
              <a:rPr dirty="0"/>
              <a:t> </a:t>
            </a:r>
            <a:r>
              <a:rPr dirty="0" err="1"/>
              <a:t>prácticas</a:t>
            </a:r>
            <a:r>
              <a:rPr dirty="0"/>
              <a:t> de </a:t>
            </a:r>
            <a:r>
              <a:rPr dirty="0" err="1"/>
              <a:t>diseño</a:t>
            </a:r>
            <a:endParaRPr dirty="0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E20A2F19-CA25-7276-5065-8B402660D5D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5293902"/>
              </p:ext>
            </p:extLst>
          </p:nvPr>
        </p:nvGraphicFramePr>
        <p:xfrm>
          <a:off x="508397" y="2160588"/>
          <a:ext cx="6447234" cy="388143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Conclusión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defRPr sz="2000">
                <a:solidFill>
                  <a:srgbClr val="1E1E1E"/>
                </a:solidFill>
              </a:defRPr>
            </a:pPr>
            <a:r>
              <a:rPr dirty="0"/>
              <a:t>Los </a:t>
            </a:r>
            <a:r>
              <a:rPr dirty="0" err="1"/>
              <a:t>gráficos</a:t>
            </a:r>
            <a:r>
              <a:rPr dirty="0"/>
              <a:t> de barras </a:t>
            </a:r>
            <a:r>
              <a:rPr dirty="0" err="1"/>
              <a:t>apiladas</a:t>
            </a:r>
            <a:r>
              <a:rPr dirty="0"/>
              <a:t> son </a:t>
            </a:r>
            <a:r>
              <a:rPr dirty="0" err="1"/>
              <a:t>una</a:t>
            </a:r>
            <a:r>
              <a:rPr dirty="0"/>
              <a:t> </a:t>
            </a:r>
            <a:r>
              <a:rPr dirty="0" err="1"/>
              <a:t>herramienta</a:t>
            </a:r>
            <a:r>
              <a:rPr dirty="0"/>
              <a:t> </a:t>
            </a:r>
            <a:r>
              <a:rPr dirty="0" err="1"/>
              <a:t>poderosa</a:t>
            </a:r>
            <a:r>
              <a:rPr dirty="0"/>
              <a:t> para </a:t>
            </a:r>
            <a:r>
              <a:rPr dirty="0" err="1"/>
              <a:t>mostrar</a:t>
            </a:r>
            <a:r>
              <a:rPr dirty="0"/>
              <a:t> la </a:t>
            </a:r>
            <a:r>
              <a:rPr dirty="0" err="1"/>
              <a:t>composición</a:t>
            </a:r>
            <a:r>
              <a:rPr dirty="0"/>
              <a:t> de </a:t>
            </a:r>
            <a:r>
              <a:rPr dirty="0" err="1"/>
              <a:t>los</a:t>
            </a:r>
            <a:r>
              <a:rPr dirty="0"/>
              <a:t> </a:t>
            </a:r>
            <a:r>
              <a:rPr dirty="0" err="1"/>
              <a:t>datos</a:t>
            </a:r>
            <a:r>
              <a:rPr dirty="0"/>
              <a:t>.</a:t>
            </a:r>
          </a:p>
          <a:p>
            <a:pPr>
              <a:defRPr sz="2000">
                <a:solidFill>
                  <a:srgbClr val="1E1E1E"/>
                </a:solidFill>
              </a:defRPr>
            </a:pPr>
            <a:endParaRPr dirty="0"/>
          </a:p>
          <a:p>
            <a:pPr>
              <a:defRPr sz="2000">
                <a:solidFill>
                  <a:srgbClr val="1E1E1E"/>
                </a:solidFill>
              </a:defRPr>
            </a:pPr>
            <a:r>
              <a:rPr dirty="0" err="1"/>
              <a:t>Cuando</a:t>
            </a:r>
            <a:r>
              <a:rPr dirty="0"/>
              <a:t> se </a:t>
            </a:r>
            <a:r>
              <a:rPr dirty="0" err="1"/>
              <a:t>usan</a:t>
            </a:r>
            <a:r>
              <a:rPr dirty="0"/>
              <a:t> con </a:t>
            </a:r>
            <a:r>
              <a:rPr dirty="0" err="1"/>
              <a:t>claridad</a:t>
            </a:r>
            <a:r>
              <a:rPr dirty="0"/>
              <a:t> y un </a:t>
            </a:r>
            <a:r>
              <a:rPr dirty="0" err="1"/>
              <a:t>diseño</a:t>
            </a:r>
            <a:r>
              <a:rPr dirty="0"/>
              <a:t> </a:t>
            </a:r>
            <a:r>
              <a:rPr dirty="0" err="1"/>
              <a:t>adecuado</a:t>
            </a:r>
            <a:r>
              <a:rPr dirty="0"/>
              <a:t>, </a:t>
            </a:r>
            <a:r>
              <a:rPr dirty="0" err="1"/>
              <a:t>permiten</a:t>
            </a:r>
            <a:r>
              <a:rPr dirty="0"/>
              <a:t> </a:t>
            </a:r>
            <a:r>
              <a:rPr dirty="0" err="1"/>
              <a:t>comparar</a:t>
            </a:r>
            <a:r>
              <a:rPr dirty="0"/>
              <a:t> </a:t>
            </a:r>
            <a:r>
              <a:rPr dirty="0" err="1"/>
              <a:t>totales</a:t>
            </a:r>
            <a:r>
              <a:rPr dirty="0"/>
              <a:t> y partes de </a:t>
            </a:r>
            <a:r>
              <a:rPr dirty="0" err="1"/>
              <a:t>manera</a:t>
            </a:r>
            <a:r>
              <a:rPr dirty="0"/>
              <a:t> </a:t>
            </a:r>
            <a:r>
              <a:rPr dirty="0" err="1"/>
              <a:t>efectiva</a:t>
            </a:r>
            <a:r>
              <a:rPr dirty="0"/>
              <a:t>.</a:t>
            </a:r>
          </a:p>
          <a:p>
            <a:pPr>
              <a:defRPr sz="2000">
                <a:solidFill>
                  <a:srgbClr val="1E1E1E"/>
                </a:solidFill>
              </a:defRPr>
            </a:pPr>
            <a:endParaRPr dirty="0"/>
          </a:p>
          <a:p>
            <a:pPr>
              <a:defRPr sz="2000">
                <a:solidFill>
                  <a:srgbClr val="1E1E1E"/>
                </a:solidFill>
              </a:defRPr>
            </a:pPr>
            <a:r>
              <a:rPr lang="es-ES"/>
              <a:t>I</a:t>
            </a:r>
            <a:r>
              <a:t>deales</a:t>
            </a:r>
            <a:r>
              <a:rPr dirty="0"/>
              <a:t> para </a:t>
            </a:r>
            <a:r>
              <a:rPr dirty="0" err="1"/>
              <a:t>presentaciones</a:t>
            </a:r>
            <a:r>
              <a:rPr dirty="0"/>
              <a:t>, </a:t>
            </a:r>
            <a:r>
              <a:rPr dirty="0" err="1"/>
              <a:t>informes</a:t>
            </a:r>
            <a:r>
              <a:rPr dirty="0"/>
              <a:t> o dashboards</a:t>
            </a:r>
            <a:r>
              <a:rPr lang="es-ES" dirty="0"/>
              <a:t>.</a:t>
            </a:r>
            <a:endParaRPr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Faceta">
  <a:themeElements>
    <a:clrScheme name="Faceta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a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a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240</TotalTime>
  <Words>413</Words>
  <Application>Microsoft Office PowerPoint</Application>
  <PresentationFormat>Presentación en pantalla (4:3)</PresentationFormat>
  <Paragraphs>38</Paragraphs>
  <Slides>8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8</vt:i4>
      </vt:variant>
    </vt:vector>
  </HeadingPairs>
  <TitlesOfParts>
    <vt:vector size="12" baseType="lpstr">
      <vt:lpstr>Arial</vt:lpstr>
      <vt:lpstr>Trebuchet MS</vt:lpstr>
      <vt:lpstr>Wingdings 3</vt:lpstr>
      <vt:lpstr>Faceta</vt:lpstr>
      <vt:lpstr>DIAGRAMA DE VIOLÍN (VIOLIN PLOT)</vt:lpstr>
      <vt:lpstr>¿Qué es un violín plot?</vt:lpstr>
      <vt:lpstr>¿Para qué se utiliza?</vt:lpstr>
      <vt:lpstr>Ventajas</vt:lpstr>
      <vt:lpstr>DESVENTAJAS</vt:lpstr>
      <vt:lpstr>ESTRUCTURA/DATOS</vt:lpstr>
      <vt:lpstr>Buenas prácticas de diseño</vt:lpstr>
      <vt:lpstr>Conclusión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Alberto Cacho Picón</dc:creator>
  <cp:keywords/>
  <dc:description>generated using python-pptx</dc:description>
  <cp:lastModifiedBy>Alberto Cacho Picón</cp:lastModifiedBy>
  <cp:revision>6</cp:revision>
  <dcterms:created xsi:type="dcterms:W3CDTF">2013-01-27T09:14:16Z</dcterms:created>
  <dcterms:modified xsi:type="dcterms:W3CDTF">2025-11-05T18:54:46Z</dcterms:modified>
  <cp:category/>
</cp:coreProperties>
</file>